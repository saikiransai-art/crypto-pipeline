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60" r:id="rId11"/>
    <p:sldId id="256" r:id="rId2"/>
    <p:sldId id="259" r:id="rId3"/>
    <p:sldId id="257" r:id="rId4"/>
    <p:sldId id="258"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4245" autoAdjust="0"/>
  </p:normalViewPr>
  <p:slideViewPr>
    <p:cSldViewPr snapToGrid="0" snapToObjects="1">
      <p:cViewPr varScale="1">
        <p:scale>
          <a:sx n="40" d="100"/>
          <a:sy n="40" d="100"/>
        </p:scale>
        <p:origin x="1660" y="4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 Id="rId11" Type="http://schemas.openxmlformats.org/officeDocument/2006/relationships/slide" Target="slides/slide5.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536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97EF1-08B5-2578-FA00-769A07340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45BA9B-085F-F5F2-3CFF-5BEA7E0929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AE060-B600-D1FD-3F7F-BE5E861CCA86}"/>
              </a:ext>
            </a:extLst>
          </p:cNvPr>
          <p:cNvSpPr>
            <a:spLocks noGrp="1"/>
          </p:cNvSpPr>
          <p:nvPr>
            <p:ph type="body" idx="1"/>
          </p:nvPr>
        </p:nvSpPr>
        <p:spPr/>
        <p:txBody>
          <a:bodyPr/>
          <a:lstStyle/>
          <a:p>
            <a:r>
              <a:rPr lang="en-US" dirty="0"/>
              <a:t>Speaker notes:
Start by framing the business problem: crypto markets move quickly, so the goal is to turn raw market data into decision-ready BI metrics. The pipeline collects the top 100 assets from CoinGecko and tracks price, market cap, volume, 24-hour price movement, and calculated volatility. The dashboard answers practical questions: which assets are moving the most, which are most volatile, and where liquidity is concentrated. I also added a simple machine-learning layer to classify price direction, which extends the BI dashboard beyond descriptive reporting.</a:t>
            </a:r>
          </a:p>
        </p:txBody>
      </p:sp>
      <p:sp>
        <p:nvSpPr>
          <p:cNvPr id="4" name="Slide Number Placeholder 3">
            <a:extLst>
              <a:ext uri="{FF2B5EF4-FFF2-40B4-BE49-F238E27FC236}">
                <a16:creationId xmlns:a16="http://schemas.microsoft.com/office/drawing/2014/main" id="{AE3D1ED3-4EEC-C73F-EB3A-6B22930157F5}"/>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391141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explains the complete architecture. The extract stage calls the CoinGecko markets endpoint and saves the raw JSON. The transform stage converts the payload into structured DataFrames, handles duplicates and missing values, and calculates volatility, liquidity ratio, market-cap brackets, and price direction. The load stage stores the data in a real local SQL database, not SQLite, with separate dimension, fact, and ETL log tables. The analytics layer includes SQL queries, a Streamlit dashboard, and a Random Forest classifier. The project can be scheduled with Windows Task Scheduler or cron, which satisfies the workflow orchestration requirement.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final slide is the dashboard story. The KPI cards summarize the market quickly: BDX is the top 24-hour gainer and DEXE is the top loser in the current snapshot. The bar chart makes those movements immediately visible, while the scatter plot compares volatility against liquidity. The market-cap donut shows that mid-cap assets form the largest share of the selected category at 54 percent. The Random Forest classifier adds a predictive layer; on the exported sample it correctly classified 13 out of 15 records, or about 86.7 percent accuracy. I would be careful to present this as an exploratory model, not a production trading signal. Future improvements include collecting more historical snapshots, deploying the scheduler continuously, and adding alerts when volatility crosses a threshold.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117"/>
          </a:solidFill>
          <a:ln w="12700">
            <a:solidFill>
              <a:srgbClr val="0D1117"/>
            </a:solidFill>
            <a:prstDash val="solid"/>
          </a:ln>
        </p:spPr>
      </p:sp>
      <p:sp>
        <p:nvSpPr>
          <p:cNvPr id="3" name="Text 1"/>
          <p:cNvSpPr/>
          <p:nvPr/>
        </p:nvSpPr>
        <p:spPr>
          <a:xfrm>
            <a:off x="502920" y="6464808"/>
            <a:ext cx="5303520" cy="182880"/>
          </a:xfrm>
          <a:prstGeom prst="rect">
            <a:avLst/>
          </a:prstGeom>
          <a:noFill/>
          <a:ln/>
        </p:spPr>
        <p:txBody>
          <a:bodyPr wrap="square" lIns="0" tIns="0" rIns="0" bIns="0" rtlCol="0" anchor="ctr"/>
          <a:lstStyle/>
          <a:p>
            <a:pPr marL="0" indent="0">
              <a:buNone/>
            </a:pPr>
            <a:r>
              <a:rPr lang="en-US" sz="750" dirty="0">
                <a:solidFill>
                  <a:srgbClr val="7D8590"/>
                </a:solidFill>
                <a:latin typeface="Aptos" pitchFamily="34" charset="0"/>
                <a:ea typeface="Aptos" pitchFamily="34" charset="-122"/>
                <a:cs typeface="Aptos" pitchFamily="34" charset="-120"/>
              </a:rPr>
              <a:t>MADSC301 Business Intelligence  •  Final ETL/ELT Project</a:t>
            </a:r>
            <a:endParaRPr lang="en-US" sz="750" dirty="0"/>
          </a:p>
        </p:txBody>
      </p:sp>
      <p:sp>
        <p:nvSpPr>
          <p:cNvPr id="4" name="Text 2"/>
          <p:cNvSpPr/>
          <p:nvPr/>
        </p:nvSpPr>
        <p:spPr>
          <a:xfrm>
            <a:off x="9875520" y="6464808"/>
            <a:ext cx="1783080" cy="182880"/>
          </a:xfrm>
          <a:prstGeom prst="rect">
            <a:avLst/>
          </a:prstGeom>
          <a:noFill/>
          <a:ln/>
        </p:spPr>
        <p:txBody>
          <a:bodyPr wrap="square" lIns="0" tIns="0" rIns="0" bIns="0" rtlCol="0" anchor="ctr"/>
          <a:lstStyle/>
          <a:p>
            <a:pPr marL="0" indent="0" algn="r">
              <a:buNone/>
            </a:pPr>
            <a:r>
              <a:rPr lang="en-US" sz="750" dirty="0">
                <a:solidFill>
                  <a:srgbClr val="7D8590"/>
                </a:solidFill>
                <a:latin typeface="Aptos" pitchFamily="34" charset="0"/>
                <a:ea typeface="Aptos" pitchFamily="34" charset="-122"/>
                <a:cs typeface="Aptos" pitchFamily="34" charset="-120"/>
              </a:rPr>
              <a:t>Crypto Market Intelligence</a:t>
            </a:r>
            <a:endParaRPr lang="en-US" sz="750" dirty="0"/>
          </a:p>
        </p:txBody>
      </p:sp>
      <p:sp>
        <p:nvSpPr>
          <p:cNvPr id="25" name="Slide Number Placeholder 0"/>
          <p:cNvSpPr>
            <a:spLocks noGrp="1"/>
          </p:cNvSpPr>
          <p:nvPr>
            <p:ph type="sldNum" sz="quarter" idx="4294967295"/>
          </p:nvPr>
        </p:nvSpPr>
        <p:spPr>
          <a:xfrm>
            <a:off x="1179576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7D8590"/>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9576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7D8590"/>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3D2AE9EA-FEF1-897C-F493-0EA840F83DC3}"/>
              </a:ext>
            </a:extLst>
          </p:cNvPr>
          <p:cNvPicPr>
            <a:picLocks noChangeAspect="1"/>
          </p:cNvPicPr>
          <p:nvPr/>
        </p:nvPicPr>
        <p:blipFill>
          <a:blip r:embed="rId3"/>
          <a:stretch>
            <a:fillRect/>
          </a:stretch>
        </p:blipFill>
        <p:spPr>
          <a:xfrm>
            <a:off x="3239" y="0"/>
            <a:ext cx="1218552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FEB2496D-3DDE-71B2-A241-324A65A822F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6B11BE6-BE35-E992-F306-E4A962EF5399}"/>
              </a:ext>
            </a:extLst>
          </p:cNvPr>
          <p:cNvSpPr/>
          <p:nvPr/>
        </p:nvSpPr>
        <p:spPr>
          <a:xfrm>
            <a:off x="594360" y="384048"/>
            <a:ext cx="4297680" cy="228600"/>
          </a:xfrm>
          <a:prstGeom prst="rect">
            <a:avLst/>
          </a:prstGeom>
          <a:noFill/>
          <a:ln/>
        </p:spPr>
        <p:txBody>
          <a:bodyPr wrap="square" lIns="0" tIns="0" rIns="0" bIns="0" rtlCol="0" anchor="ctr"/>
          <a:lstStyle/>
          <a:p>
            <a:pPr marL="0" indent="0">
              <a:buNone/>
            </a:pPr>
            <a:r>
              <a:rPr lang="en-US" sz="900" b="1" dirty="0">
                <a:solidFill>
                  <a:srgbClr val="FFD400"/>
                </a:solidFill>
                <a:latin typeface="Aptos" pitchFamily="34" charset="0"/>
                <a:ea typeface="Aptos" pitchFamily="34" charset="-122"/>
                <a:cs typeface="Aptos" pitchFamily="34" charset="-120"/>
              </a:rPr>
              <a:t>BUSINESS CASE &amp; DATA SOURCE</a:t>
            </a:r>
            <a:endParaRPr lang="en-US" sz="900" dirty="0"/>
          </a:p>
        </p:txBody>
      </p:sp>
      <p:sp>
        <p:nvSpPr>
          <p:cNvPr id="3" name="Text 1">
            <a:extLst>
              <a:ext uri="{FF2B5EF4-FFF2-40B4-BE49-F238E27FC236}">
                <a16:creationId xmlns:a16="http://schemas.microsoft.com/office/drawing/2014/main" id="{5F5227CD-CC19-C681-7F83-1937B4DC86C2}"/>
              </a:ext>
            </a:extLst>
          </p:cNvPr>
          <p:cNvSpPr/>
          <p:nvPr/>
        </p:nvSpPr>
        <p:spPr>
          <a:xfrm>
            <a:off x="566928" y="676656"/>
            <a:ext cx="7040880" cy="685800"/>
          </a:xfrm>
          <a:prstGeom prst="rect">
            <a:avLst/>
          </a:prstGeom>
          <a:noFill/>
          <a:ln/>
        </p:spPr>
        <p:txBody>
          <a:bodyPr wrap="square" lIns="0" tIns="0" rIns="0" bIns="0" rtlCol="0" anchor="ctr"/>
          <a:lstStyle/>
          <a:p>
            <a:pPr marL="0" indent="0">
              <a:buNone/>
            </a:pPr>
            <a:r>
              <a:rPr lang="en-US" sz="3000" b="1" dirty="0">
                <a:solidFill>
                  <a:srgbClr val="F8FAFC"/>
                </a:solidFill>
                <a:latin typeface="Aptos Display" pitchFamily="34" charset="0"/>
                <a:ea typeface="Aptos Display" pitchFamily="34" charset="-122"/>
                <a:cs typeface="Aptos Display" pitchFamily="34" charset="-120"/>
              </a:rPr>
              <a:t>Crypto Market Intelligence</a:t>
            </a:r>
            <a:endParaRPr lang="en-US" sz="3000" dirty="0"/>
          </a:p>
        </p:txBody>
      </p:sp>
      <p:sp>
        <p:nvSpPr>
          <p:cNvPr id="4" name="Text 2">
            <a:extLst>
              <a:ext uri="{FF2B5EF4-FFF2-40B4-BE49-F238E27FC236}">
                <a16:creationId xmlns:a16="http://schemas.microsoft.com/office/drawing/2014/main" id="{AAD5E905-EA08-09FA-D121-60E1D65BD4C1}"/>
              </a:ext>
            </a:extLst>
          </p:cNvPr>
          <p:cNvSpPr/>
          <p:nvPr/>
        </p:nvSpPr>
        <p:spPr>
          <a:xfrm>
            <a:off x="603504" y="1481328"/>
            <a:ext cx="8412480" cy="320040"/>
          </a:xfrm>
          <a:prstGeom prst="rect">
            <a:avLst/>
          </a:prstGeom>
          <a:noFill/>
          <a:ln/>
        </p:spPr>
        <p:txBody>
          <a:bodyPr wrap="square" lIns="0" tIns="0" rIns="0" bIns="0" rtlCol="0" anchor="ctr"/>
          <a:lstStyle/>
          <a:p>
            <a:pPr marL="0" indent="0">
              <a:buNone/>
            </a:pPr>
            <a:r>
              <a:rPr lang="en-US" sz="1250" dirty="0">
                <a:solidFill>
                  <a:srgbClr val="C9D1D9"/>
                </a:solidFill>
                <a:latin typeface="Aptos" pitchFamily="34" charset="0"/>
                <a:ea typeface="Aptos" pitchFamily="34" charset="-122"/>
                <a:cs typeface="Aptos" pitchFamily="34" charset="-120"/>
              </a:rPr>
              <a:t>An end-to-end BI pipeline for tracking crypto market movement, volatility, and liquidity.</a:t>
            </a:r>
            <a:endParaRPr lang="en-US" sz="1250" dirty="0"/>
          </a:p>
        </p:txBody>
      </p:sp>
      <p:sp>
        <p:nvSpPr>
          <p:cNvPr id="5" name="Text 3">
            <a:extLst>
              <a:ext uri="{FF2B5EF4-FFF2-40B4-BE49-F238E27FC236}">
                <a16:creationId xmlns:a16="http://schemas.microsoft.com/office/drawing/2014/main" id="{7687B236-3CB9-E737-8AB3-BBBE40AA6182}"/>
              </a:ext>
            </a:extLst>
          </p:cNvPr>
          <p:cNvSpPr/>
          <p:nvPr/>
        </p:nvSpPr>
        <p:spPr>
          <a:xfrm>
            <a:off x="612648" y="1865376"/>
            <a:ext cx="1417320" cy="329184"/>
          </a:xfrm>
          <a:prstGeom prst="roundRect">
            <a:avLst>
              <a:gd name="adj" fmla="val 22222"/>
            </a:avLst>
          </a:prstGeom>
          <a:solidFill>
            <a:srgbClr val="7C3AED">
              <a:alpha val="96000"/>
            </a:srgbClr>
          </a:solidFill>
          <a:ln>
            <a:solidFill>
              <a:srgbClr val="7C3AED">
                <a:alpha val="0"/>
              </a:srgbClr>
            </a:solidFill>
          </a:ln>
        </p:spPr>
        <p:txBody>
          <a:bodyPr wrap="square" lIns="508" tIns="508" rIns="508" bIns="508" rtlCol="0" anchor="ctr"/>
          <a:lstStyle/>
          <a:p>
            <a:pPr marL="0" indent="0" algn="ctr">
              <a:buNone/>
            </a:pPr>
            <a:r>
              <a:rPr lang="en-US" sz="1000" b="1" dirty="0">
                <a:solidFill>
                  <a:srgbClr val="F8FAFC"/>
                </a:solidFill>
                <a:latin typeface="Aptos" pitchFamily="34" charset="0"/>
                <a:ea typeface="Aptos" pitchFamily="34" charset="-122"/>
                <a:cs typeface="Aptos" pitchFamily="34" charset="-120"/>
              </a:rPr>
              <a:t>CoinGecko API</a:t>
            </a:r>
            <a:endParaRPr lang="en-US" sz="1000" dirty="0"/>
          </a:p>
        </p:txBody>
      </p:sp>
      <p:sp>
        <p:nvSpPr>
          <p:cNvPr id="6" name="Text 4">
            <a:extLst>
              <a:ext uri="{FF2B5EF4-FFF2-40B4-BE49-F238E27FC236}">
                <a16:creationId xmlns:a16="http://schemas.microsoft.com/office/drawing/2014/main" id="{496D4761-66B4-FBE1-A188-122331A45D2B}"/>
              </a:ext>
            </a:extLst>
          </p:cNvPr>
          <p:cNvSpPr/>
          <p:nvPr/>
        </p:nvSpPr>
        <p:spPr>
          <a:xfrm>
            <a:off x="2176272" y="1865376"/>
            <a:ext cx="1298448" cy="329184"/>
          </a:xfrm>
          <a:prstGeom prst="roundRect">
            <a:avLst>
              <a:gd name="adj" fmla="val 22222"/>
            </a:avLst>
          </a:prstGeom>
          <a:solidFill>
            <a:srgbClr val="17B5E5">
              <a:alpha val="96000"/>
            </a:srgbClr>
          </a:solidFill>
          <a:ln>
            <a:solidFill>
              <a:srgbClr val="17B5E5">
                <a:alpha val="0"/>
              </a:srgbClr>
            </a:solidFill>
          </a:ln>
        </p:spPr>
        <p:txBody>
          <a:bodyPr wrap="square" lIns="508" tIns="508" rIns="508" bIns="508" rtlCol="0" anchor="ctr"/>
          <a:lstStyle/>
          <a:p>
            <a:pPr marL="0" indent="0" algn="ctr">
              <a:buNone/>
            </a:pPr>
            <a:r>
              <a:rPr lang="en-US" sz="1000" b="1" dirty="0">
                <a:solidFill>
                  <a:srgbClr val="F8FAFC"/>
                </a:solidFill>
                <a:latin typeface="Aptos" pitchFamily="34" charset="0"/>
                <a:ea typeface="Aptos" pitchFamily="34" charset="-122"/>
                <a:cs typeface="Aptos" pitchFamily="34" charset="-120"/>
              </a:rPr>
              <a:t>Top 100 Coins</a:t>
            </a:r>
            <a:endParaRPr lang="en-US" sz="1000" dirty="0"/>
          </a:p>
        </p:txBody>
      </p:sp>
      <p:sp>
        <p:nvSpPr>
          <p:cNvPr id="7" name="Text 5">
            <a:extLst>
              <a:ext uri="{FF2B5EF4-FFF2-40B4-BE49-F238E27FC236}">
                <a16:creationId xmlns:a16="http://schemas.microsoft.com/office/drawing/2014/main" id="{F8A107D4-15F2-7F8F-726B-9F2258E10B72}"/>
              </a:ext>
            </a:extLst>
          </p:cNvPr>
          <p:cNvSpPr/>
          <p:nvPr/>
        </p:nvSpPr>
        <p:spPr>
          <a:xfrm>
            <a:off x="3621024" y="1865376"/>
            <a:ext cx="1572768" cy="329184"/>
          </a:xfrm>
          <a:prstGeom prst="roundRect">
            <a:avLst>
              <a:gd name="adj" fmla="val 22222"/>
            </a:avLst>
          </a:prstGeom>
          <a:solidFill>
            <a:srgbClr val="00E676">
              <a:alpha val="96000"/>
            </a:srgbClr>
          </a:solidFill>
          <a:ln>
            <a:solidFill>
              <a:srgbClr val="00E676">
                <a:alpha val="0"/>
              </a:srgbClr>
            </a:solidFill>
          </a:ln>
        </p:spPr>
        <p:txBody>
          <a:bodyPr wrap="square" lIns="508" tIns="508" rIns="508" bIns="508" rtlCol="0" anchor="ctr"/>
          <a:lstStyle/>
          <a:p>
            <a:pPr marL="0" indent="0" algn="ctr">
              <a:buNone/>
            </a:pPr>
            <a:r>
              <a:rPr lang="en-US" sz="1000" b="1" dirty="0">
                <a:solidFill>
                  <a:srgbClr val="F8FAFC"/>
                </a:solidFill>
                <a:latin typeface="Aptos" pitchFamily="34" charset="0"/>
                <a:ea typeface="Aptos" pitchFamily="34" charset="-122"/>
                <a:cs typeface="Aptos" pitchFamily="34" charset="-120"/>
              </a:rPr>
              <a:t>24h Market Metrics</a:t>
            </a:r>
            <a:endParaRPr lang="en-US" sz="1000" dirty="0"/>
          </a:p>
        </p:txBody>
      </p:sp>
      <p:sp>
        <p:nvSpPr>
          <p:cNvPr id="8" name="Text 6">
            <a:extLst>
              <a:ext uri="{FF2B5EF4-FFF2-40B4-BE49-F238E27FC236}">
                <a16:creationId xmlns:a16="http://schemas.microsoft.com/office/drawing/2014/main" id="{59E3D53E-6A03-A0DB-8933-0BDBE4286843}"/>
              </a:ext>
            </a:extLst>
          </p:cNvPr>
          <p:cNvSpPr/>
          <p:nvPr/>
        </p:nvSpPr>
        <p:spPr>
          <a:xfrm>
            <a:off x="5358384" y="1865376"/>
            <a:ext cx="1755648" cy="329184"/>
          </a:xfrm>
          <a:prstGeom prst="roundRect">
            <a:avLst>
              <a:gd name="adj" fmla="val 22222"/>
            </a:avLst>
          </a:prstGeom>
          <a:solidFill>
            <a:srgbClr val="D946EF">
              <a:alpha val="96000"/>
            </a:srgbClr>
          </a:solidFill>
          <a:ln>
            <a:solidFill>
              <a:srgbClr val="D946EF">
                <a:alpha val="0"/>
              </a:srgbClr>
            </a:solidFill>
          </a:ln>
        </p:spPr>
        <p:txBody>
          <a:bodyPr wrap="square" lIns="508" tIns="508" rIns="508" bIns="508" rtlCol="0" anchor="ctr"/>
          <a:lstStyle/>
          <a:p>
            <a:pPr marL="0" indent="0" algn="ctr">
              <a:buNone/>
            </a:pPr>
            <a:r>
              <a:rPr lang="en-US" sz="1000" b="1" dirty="0">
                <a:solidFill>
                  <a:srgbClr val="F8FAFC"/>
                </a:solidFill>
                <a:latin typeface="Aptos" pitchFamily="34" charset="0"/>
                <a:ea typeface="Aptos" pitchFamily="34" charset="-122"/>
                <a:cs typeface="Aptos" pitchFamily="34" charset="-120"/>
              </a:rPr>
              <a:t>ML Direction Signals</a:t>
            </a:r>
            <a:endParaRPr lang="en-US" sz="1000" dirty="0"/>
          </a:p>
        </p:txBody>
      </p:sp>
      <p:sp>
        <p:nvSpPr>
          <p:cNvPr id="9" name="Shape 7">
            <a:extLst>
              <a:ext uri="{FF2B5EF4-FFF2-40B4-BE49-F238E27FC236}">
                <a16:creationId xmlns:a16="http://schemas.microsoft.com/office/drawing/2014/main" id="{F9BE1E7C-AF3B-03F0-FF08-B61FA430357C}"/>
              </a:ext>
            </a:extLst>
          </p:cNvPr>
          <p:cNvSpPr/>
          <p:nvPr/>
        </p:nvSpPr>
        <p:spPr>
          <a:xfrm>
            <a:off x="594360" y="2423160"/>
            <a:ext cx="3977640" cy="3474720"/>
          </a:xfrm>
          <a:prstGeom prst="roundRect">
            <a:avLst>
              <a:gd name="adj" fmla="val 3158"/>
            </a:avLst>
          </a:prstGeom>
          <a:solidFill>
            <a:srgbClr val="141922"/>
          </a:solidFill>
          <a:ln w="12700">
            <a:solidFill>
              <a:srgbClr val="2B3342">
                <a:alpha val="90000"/>
              </a:srgbClr>
            </a:solidFill>
            <a:prstDash val="solid"/>
          </a:ln>
        </p:spPr>
      </p:sp>
      <p:sp>
        <p:nvSpPr>
          <p:cNvPr id="10" name="Text 8">
            <a:extLst>
              <a:ext uri="{FF2B5EF4-FFF2-40B4-BE49-F238E27FC236}">
                <a16:creationId xmlns:a16="http://schemas.microsoft.com/office/drawing/2014/main" id="{F0CC94A6-68DB-5C5A-A187-3FA207057394}"/>
              </a:ext>
            </a:extLst>
          </p:cNvPr>
          <p:cNvSpPr/>
          <p:nvPr/>
        </p:nvSpPr>
        <p:spPr>
          <a:xfrm>
            <a:off x="868680" y="2697480"/>
            <a:ext cx="3200400" cy="274320"/>
          </a:xfrm>
          <a:prstGeom prst="rect">
            <a:avLst/>
          </a:prstGeom>
          <a:noFill/>
          <a:ln/>
        </p:spPr>
        <p:txBody>
          <a:bodyPr wrap="square" lIns="0" tIns="0" rIns="0" bIns="0" rtlCol="0" anchor="ctr"/>
          <a:lstStyle/>
          <a:p>
            <a:pPr marL="0" indent="0">
              <a:buNone/>
            </a:pPr>
            <a:r>
              <a:rPr lang="en-US" sz="1600" b="1" dirty="0">
                <a:solidFill>
                  <a:srgbClr val="F8FAFC"/>
                </a:solidFill>
                <a:latin typeface="Aptos Display" pitchFamily="34" charset="0"/>
                <a:ea typeface="Aptos Display" pitchFamily="34" charset="-122"/>
                <a:cs typeface="Aptos Display" pitchFamily="34" charset="-120"/>
              </a:rPr>
              <a:t>Decision problem</a:t>
            </a:r>
            <a:endParaRPr lang="en-US" sz="1600" dirty="0"/>
          </a:p>
        </p:txBody>
      </p:sp>
      <p:sp>
        <p:nvSpPr>
          <p:cNvPr id="11" name="Text 9">
            <a:extLst>
              <a:ext uri="{FF2B5EF4-FFF2-40B4-BE49-F238E27FC236}">
                <a16:creationId xmlns:a16="http://schemas.microsoft.com/office/drawing/2014/main" id="{BD7C3A96-C962-57AE-077D-C514B7F07087}"/>
              </a:ext>
            </a:extLst>
          </p:cNvPr>
          <p:cNvSpPr/>
          <p:nvPr/>
        </p:nvSpPr>
        <p:spPr>
          <a:xfrm>
            <a:off x="868680" y="3246120"/>
            <a:ext cx="3337560" cy="292608"/>
          </a:xfrm>
          <a:prstGeom prst="rect">
            <a:avLst/>
          </a:prstGeom>
          <a:noFill/>
          <a:ln/>
        </p:spPr>
        <p:txBody>
          <a:bodyPr wrap="square" lIns="0" tIns="0" rIns="0" bIns="0" rtlCol="0" anchor="ctr"/>
          <a:lstStyle/>
          <a:p>
            <a:pPr marL="0" indent="0">
              <a:buNone/>
            </a:pPr>
            <a:r>
              <a:rPr lang="en-US" sz="1040" dirty="0">
                <a:solidFill>
                  <a:srgbClr val="FFD400"/>
                </a:solidFill>
                <a:latin typeface="Aptos" pitchFamily="34" charset="0"/>
                <a:ea typeface="Aptos" pitchFamily="34" charset="-122"/>
                <a:cs typeface="Aptos" pitchFamily="34" charset="-120"/>
              </a:rPr>
              <a:t xml:space="preserve">● </a:t>
            </a:r>
            <a:r>
              <a:rPr lang="en-US" sz="1040" dirty="0">
                <a:solidFill>
                  <a:srgbClr val="C9D1D9"/>
                </a:solidFill>
                <a:latin typeface="Aptos" pitchFamily="34" charset="0"/>
                <a:ea typeface="Aptos" pitchFamily="34" charset="-122"/>
                <a:cs typeface="Aptos" pitchFamily="34" charset="-120"/>
              </a:rPr>
              <a:t>Identify daily winners, losers, and risky outliers.</a:t>
            </a:r>
            <a:endParaRPr lang="en-US" sz="1040" dirty="0"/>
          </a:p>
        </p:txBody>
      </p:sp>
      <p:sp>
        <p:nvSpPr>
          <p:cNvPr id="12" name="Text 10">
            <a:extLst>
              <a:ext uri="{FF2B5EF4-FFF2-40B4-BE49-F238E27FC236}">
                <a16:creationId xmlns:a16="http://schemas.microsoft.com/office/drawing/2014/main" id="{51B1BE87-596D-701A-6FEB-5484F0796FD6}"/>
              </a:ext>
            </a:extLst>
          </p:cNvPr>
          <p:cNvSpPr/>
          <p:nvPr/>
        </p:nvSpPr>
        <p:spPr>
          <a:xfrm>
            <a:off x="868680" y="3675888"/>
            <a:ext cx="3429000" cy="292608"/>
          </a:xfrm>
          <a:prstGeom prst="rect">
            <a:avLst/>
          </a:prstGeom>
          <a:noFill/>
          <a:ln/>
        </p:spPr>
        <p:txBody>
          <a:bodyPr wrap="square" lIns="0" tIns="0" rIns="0" bIns="0" rtlCol="0" anchor="ctr"/>
          <a:lstStyle/>
          <a:p>
            <a:pPr marL="0" indent="0">
              <a:buNone/>
            </a:pPr>
            <a:r>
              <a:rPr lang="en-US" sz="1040" dirty="0">
                <a:solidFill>
                  <a:srgbClr val="FFD400"/>
                </a:solidFill>
                <a:latin typeface="Aptos" pitchFamily="34" charset="0"/>
                <a:ea typeface="Aptos" pitchFamily="34" charset="-122"/>
                <a:cs typeface="Aptos" pitchFamily="34" charset="-120"/>
              </a:rPr>
              <a:t xml:space="preserve">● </a:t>
            </a:r>
            <a:r>
              <a:rPr lang="en-US" sz="1040" dirty="0">
                <a:solidFill>
                  <a:srgbClr val="C9D1D9"/>
                </a:solidFill>
                <a:latin typeface="Aptos" pitchFamily="34" charset="0"/>
                <a:ea typeface="Aptos" pitchFamily="34" charset="-122"/>
                <a:cs typeface="Aptos" pitchFamily="34" charset="-120"/>
              </a:rPr>
              <a:t>Compare volume against market cap to spot liquidity concentration.</a:t>
            </a:r>
            <a:endParaRPr lang="en-US" sz="1040" dirty="0"/>
          </a:p>
        </p:txBody>
      </p:sp>
      <p:sp>
        <p:nvSpPr>
          <p:cNvPr id="13" name="Text 11">
            <a:extLst>
              <a:ext uri="{FF2B5EF4-FFF2-40B4-BE49-F238E27FC236}">
                <a16:creationId xmlns:a16="http://schemas.microsoft.com/office/drawing/2014/main" id="{D3823B20-EAF7-64CE-3198-F3C450756F43}"/>
              </a:ext>
            </a:extLst>
          </p:cNvPr>
          <p:cNvSpPr/>
          <p:nvPr/>
        </p:nvSpPr>
        <p:spPr>
          <a:xfrm>
            <a:off x="868680" y="4251960"/>
            <a:ext cx="3429000" cy="292608"/>
          </a:xfrm>
          <a:prstGeom prst="rect">
            <a:avLst/>
          </a:prstGeom>
          <a:noFill/>
          <a:ln/>
        </p:spPr>
        <p:txBody>
          <a:bodyPr wrap="square" lIns="0" tIns="0" rIns="0" bIns="0" rtlCol="0" anchor="ctr"/>
          <a:lstStyle/>
          <a:p>
            <a:pPr marL="0" indent="0">
              <a:buNone/>
            </a:pPr>
            <a:r>
              <a:rPr lang="en-US" sz="1040" dirty="0">
                <a:solidFill>
                  <a:srgbClr val="FFD400"/>
                </a:solidFill>
                <a:latin typeface="Aptos" pitchFamily="34" charset="0"/>
                <a:ea typeface="Aptos" pitchFamily="34" charset="-122"/>
                <a:cs typeface="Aptos" pitchFamily="34" charset="-120"/>
              </a:rPr>
              <a:t xml:space="preserve">● </a:t>
            </a:r>
            <a:r>
              <a:rPr lang="en-US" sz="1040" dirty="0">
                <a:solidFill>
                  <a:srgbClr val="C9D1D9"/>
                </a:solidFill>
                <a:latin typeface="Aptos" pitchFamily="34" charset="0"/>
                <a:ea typeface="Aptos" pitchFamily="34" charset="-122"/>
                <a:cs typeface="Aptos" pitchFamily="34" charset="-120"/>
              </a:rPr>
              <a:t>Classify price direction using engineered market features.</a:t>
            </a:r>
            <a:endParaRPr lang="en-US" sz="1040" dirty="0"/>
          </a:p>
        </p:txBody>
      </p:sp>
      <p:sp>
        <p:nvSpPr>
          <p:cNvPr id="14" name="Text 12">
            <a:extLst>
              <a:ext uri="{FF2B5EF4-FFF2-40B4-BE49-F238E27FC236}">
                <a16:creationId xmlns:a16="http://schemas.microsoft.com/office/drawing/2014/main" id="{61312E46-2CA0-3B3F-5CDE-3D692E7C51A1}"/>
              </a:ext>
            </a:extLst>
          </p:cNvPr>
          <p:cNvSpPr/>
          <p:nvPr/>
        </p:nvSpPr>
        <p:spPr>
          <a:xfrm>
            <a:off x="868680" y="4828032"/>
            <a:ext cx="3429000" cy="292608"/>
          </a:xfrm>
          <a:prstGeom prst="rect">
            <a:avLst/>
          </a:prstGeom>
          <a:noFill/>
          <a:ln/>
        </p:spPr>
        <p:txBody>
          <a:bodyPr wrap="square" lIns="0" tIns="0" rIns="0" bIns="0" rtlCol="0" anchor="ctr"/>
          <a:lstStyle/>
          <a:p>
            <a:pPr marL="0" indent="0">
              <a:buNone/>
            </a:pPr>
            <a:r>
              <a:rPr lang="en-US" sz="1040" dirty="0">
                <a:solidFill>
                  <a:srgbClr val="FFD400"/>
                </a:solidFill>
                <a:latin typeface="Aptos" pitchFamily="34" charset="0"/>
                <a:ea typeface="Aptos" pitchFamily="34" charset="-122"/>
                <a:cs typeface="Aptos" pitchFamily="34" charset="-120"/>
              </a:rPr>
              <a:t xml:space="preserve">● </a:t>
            </a:r>
            <a:r>
              <a:rPr lang="en-US" sz="1040" dirty="0">
                <a:solidFill>
                  <a:srgbClr val="C9D1D9"/>
                </a:solidFill>
                <a:latin typeface="Aptos" pitchFamily="34" charset="0"/>
                <a:ea typeface="Aptos" pitchFamily="34" charset="-122"/>
                <a:cs typeface="Aptos" pitchFamily="34" charset="-120"/>
              </a:rPr>
              <a:t>Support a live demo with repeatable ETL runs and dashboard refresh.</a:t>
            </a:r>
            <a:endParaRPr lang="en-US" sz="1040" dirty="0"/>
          </a:p>
        </p:txBody>
      </p:sp>
      <p:sp>
        <p:nvSpPr>
          <p:cNvPr id="15" name="Shape 13">
            <a:extLst>
              <a:ext uri="{FF2B5EF4-FFF2-40B4-BE49-F238E27FC236}">
                <a16:creationId xmlns:a16="http://schemas.microsoft.com/office/drawing/2014/main" id="{CC8B9D0D-8F9C-675F-7C1B-1D83FC7DBB30}"/>
              </a:ext>
            </a:extLst>
          </p:cNvPr>
          <p:cNvSpPr/>
          <p:nvPr/>
        </p:nvSpPr>
        <p:spPr>
          <a:xfrm>
            <a:off x="4919472" y="2423160"/>
            <a:ext cx="6675120" cy="3474720"/>
          </a:xfrm>
          <a:prstGeom prst="roundRect">
            <a:avLst>
              <a:gd name="adj" fmla="val 3158"/>
            </a:avLst>
          </a:prstGeom>
          <a:solidFill>
            <a:srgbClr val="141922"/>
          </a:solidFill>
          <a:ln w="12700">
            <a:solidFill>
              <a:srgbClr val="2B3342">
                <a:alpha val="90000"/>
              </a:srgbClr>
            </a:solidFill>
            <a:prstDash val="solid"/>
          </a:ln>
        </p:spPr>
      </p:sp>
      <p:sp>
        <p:nvSpPr>
          <p:cNvPr id="16" name="Text 14">
            <a:extLst>
              <a:ext uri="{FF2B5EF4-FFF2-40B4-BE49-F238E27FC236}">
                <a16:creationId xmlns:a16="http://schemas.microsoft.com/office/drawing/2014/main" id="{D815EA2C-14D9-10A5-C09D-3C3456D66E37}"/>
              </a:ext>
            </a:extLst>
          </p:cNvPr>
          <p:cNvSpPr/>
          <p:nvPr/>
        </p:nvSpPr>
        <p:spPr>
          <a:xfrm>
            <a:off x="5166360" y="2679192"/>
            <a:ext cx="2926080" cy="274320"/>
          </a:xfrm>
          <a:prstGeom prst="rect">
            <a:avLst/>
          </a:prstGeom>
          <a:noFill/>
          <a:ln/>
        </p:spPr>
        <p:txBody>
          <a:bodyPr wrap="square" lIns="0" tIns="0" rIns="0" bIns="0" rtlCol="0" anchor="ctr"/>
          <a:lstStyle/>
          <a:p>
            <a:pPr marL="0" indent="0">
              <a:buNone/>
            </a:pPr>
            <a:r>
              <a:rPr lang="en-US" sz="1600" b="1" dirty="0">
                <a:solidFill>
                  <a:srgbClr val="F8FAFC"/>
                </a:solidFill>
                <a:latin typeface="Aptos Display" pitchFamily="34" charset="0"/>
                <a:ea typeface="Aptos Display" pitchFamily="34" charset="-122"/>
                <a:cs typeface="Aptos Display" pitchFamily="34" charset="-120"/>
              </a:rPr>
              <a:t>Live dashboard KPIs</a:t>
            </a:r>
            <a:endParaRPr lang="en-US" sz="1600" dirty="0"/>
          </a:p>
        </p:txBody>
      </p:sp>
      <p:pic>
        <p:nvPicPr>
          <p:cNvPr id="17" name="Image 0" descr="/mnt/data/image(3188).png">
            <a:extLst>
              <a:ext uri="{FF2B5EF4-FFF2-40B4-BE49-F238E27FC236}">
                <a16:creationId xmlns:a16="http://schemas.microsoft.com/office/drawing/2014/main" id="{5D42C106-88D0-DB78-2342-26CAB06F2732}"/>
              </a:ext>
            </a:extLst>
          </p:cNvPr>
          <p:cNvPicPr>
            <a:picLocks noChangeAspect="1"/>
          </p:cNvPicPr>
          <p:nvPr/>
        </p:nvPicPr>
        <p:blipFill>
          <a:blip r:embed="rId3"/>
          <a:srcRect l="2969" r="2969"/>
          <a:stretch/>
        </p:blipFill>
        <p:spPr>
          <a:xfrm>
            <a:off x="5120640" y="3090672"/>
            <a:ext cx="6199632" cy="868680"/>
          </a:xfrm>
          <a:prstGeom prst="rect">
            <a:avLst/>
          </a:prstGeom>
        </p:spPr>
      </p:pic>
      <p:sp>
        <p:nvSpPr>
          <p:cNvPr id="18" name="Text 15">
            <a:extLst>
              <a:ext uri="{FF2B5EF4-FFF2-40B4-BE49-F238E27FC236}">
                <a16:creationId xmlns:a16="http://schemas.microsoft.com/office/drawing/2014/main" id="{56F5FFEB-AF21-A446-85BB-EAE904D84F04}"/>
              </a:ext>
            </a:extLst>
          </p:cNvPr>
          <p:cNvSpPr/>
          <p:nvPr/>
        </p:nvSpPr>
        <p:spPr>
          <a:xfrm>
            <a:off x="5184648" y="4343400"/>
            <a:ext cx="1828800" cy="246888"/>
          </a:xfrm>
          <a:prstGeom prst="rect">
            <a:avLst/>
          </a:prstGeom>
          <a:noFill/>
          <a:ln/>
        </p:spPr>
        <p:txBody>
          <a:bodyPr wrap="square" lIns="0" tIns="0" rIns="0" bIns="0" rtlCol="0" anchor="ctr"/>
          <a:lstStyle/>
          <a:p>
            <a:pPr marL="0" indent="0">
              <a:buNone/>
            </a:pPr>
            <a:r>
              <a:rPr lang="en-US" sz="770" b="1" dirty="0">
                <a:solidFill>
                  <a:srgbClr val="9AA4B2"/>
                </a:solidFill>
              </a:rPr>
              <a:t>GLOBAL MARKET CAP</a:t>
            </a:r>
            <a:endParaRPr lang="en-US" sz="770" dirty="0"/>
          </a:p>
        </p:txBody>
      </p:sp>
      <p:sp>
        <p:nvSpPr>
          <p:cNvPr id="19" name="Text 16">
            <a:extLst>
              <a:ext uri="{FF2B5EF4-FFF2-40B4-BE49-F238E27FC236}">
                <a16:creationId xmlns:a16="http://schemas.microsoft.com/office/drawing/2014/main" id="{BAE5E7F2-F4CC-4577-B057-7BE4221BEE2F}"/>
              </a:ext>
            </a:extLst>
          </p:cNvPr>
          <p:cNvSpPr/>
          <p:nvPr/>
        </p:nvSpPr>
        <p:spPr>
          <a:xfrm>
            <a:off x="5184648" y="4654296"/>
            <a:ext cx="1828800" cy="411480"/>
          </a:xfrm>
          <a:prstGeom prst="rect">
            <a:avLst/>
          </a:prstGeom>
          <a:noFill/>
          <a:ln/>
        </p:spPr>
        <p:txBody>
          <a:bodyPr wrap="square" lIns="0" tIns="0" rIns="0" bIns="0" rtlCol="0" anchor="ctr"/>
          <a:lstStyle/>
          <a:p>
            <a:pPr marL="0" indent="0">
              <a:buNone/>
            </a:pPr>
            <a:r>
              <a:rPr lang="en-US" sz="1900" b="1" dirty="0">
                <a:solidFill>
                  <a:srgbClr val="F8FAFC"/>
                </a:solidFill>
              </a:rPr>
              <a:t>$2.21T+</a:t>
            </a:r>
            <a:endParaRPr lang="en-US" sz="1900" dirty="0"/>
          </a:p>
        </p:txBody>
      </p:sp>
      <p:sp>
        <p:nvSpPr>
          <p:cNvPr id="20" name="Text 17">
            <a:extLst>
              <a:ext uri="{FF2B5EF4-FFF2-40B4-BE49-F238E27FC236}">
                <a16:creationId xmlns:a16="http://schemas.microsoft.com/office/drawing/2014/main" id="{C5BB444F-0ECC-74FA-E859-DE756E832140}"/>
              </a:ext>
            </a:extLst>
          </p:cNvPr>
          <p:cNvSpPr/>
          <p:nvPr/>
        </p:nvSpPr>
        <p:spPr>
          <a:xfrm>
            <a:off x="5184648" y="5120640"/>
            <a:ext cx="1828800" cy="201168"/>
          </a:xfrm>
          <a:prstGeom prst="rect">
            <a:avLst/>
          </a:prstGeom>
          <a:noFill/>
          <a:ln/>
        </p:spPr>
        <p:txBody>
          <a:bodyPr wrap="square" lIns="0" tIns="0" rIns="0" bIns="0" rtlCol="0" anchor="ctr"/>
          <a:lstStyle/>
          <a:p>
            <a:pPr marL="0" indent="0">
              <a:buNone/>
            </a:pPr>
            <a:r>
              <a:rPr lang="en-US" sz="750" dirty="0">
                <a:solidFill>
                  <a:srgbClr val="C9D1D9"/>
                </a:solidFill>
              </a:rPr>
              <a:t>Selected category</a:t>
            </a:r>
            <a:endParaRPr lang="en-US" sz="750" dirty="0"/>
          </a:p>
        </p:txBody>
      </p:sp>
      <p:sp>
        <p:nvSpPr>
          <p:cNvPr id="21" name="Text 18">
            <a:extLst>
              <a:ext uri="{FF2B5EF4-FFF2-40B4-BE49-F238E27FC236}">
                <a16:creationId xmlns:a16="http://schemas.microsoft.com/office/drawing/2014/main" id="{3F8F45E0-1FC6-1831-884F-7BA75EC3AC50}"/>
              </a:ext>
            </a:extLst>
          </p:cNvPr>
          <p:cNvSpPr/>
          <p:nvPr/>
        </p:nvSpPr>
        <p:spPr>
          <a:xfrm>
            <a:off x="7315200" y="4343400"/>
            <a:ext cx="1691640" cy="246888"/>
          </a:xfrm>
          <a:prstGeom prst="rect">
            <a:avLst/>
          </a:prstGeom>
          <a:noFill/>
          <a:ln/>
        </p:spPr>
        <p:txBody>
          <a:bodyPr wrap="square" lIns="0" tIns="0" rIns="0" bIns="0" rtlCol="0" anchor="ctr"/>
          <a:lstStyle/>
          <a:p>
            <a:pPr marL="0" indent="0">
              <a:buNone/>
            </a:pPr>
            <a:r>
              <a:rPr lang="en-US" sz="770" b="1" dirty="0">
                <a:solidFill>
                  <a:srgbClr val="9AA4B2"/>
                </a:solidFill>
              </a:rPr>
              <a:t>TOP GAINER</a:t>
            </a:r>
            <a:endParaRPr lang="en-US" sz="770" dirty="0"/>
          </a:p>
        </p:txBody>
      </p:sp>
      <p:sp>
        <p:nvSpPr>
          <p:cNvPr id="22" name="Text 19">
            <a:extLst>
              <a:ext uri="{FF2B5EF4-FFF2-40B4-BE49-F238E27FC236}">
                <a16:creationId xmlns:a16="http://schemas.microsoft.com/office/drawing/2014/main" id="{E1932469-A1B1-75F7-B8A0-44BD67EC896D}"/>
              </a:ext>
            </a:extLst>
          </p:cNvPr>
          <p:cNvSpPr/>
          <p:nvPr/>
        </p:nvSpPr>
        <p:spPr>
          <a:xfrm>
            <a:off x="7315200" y="4654296"/>
            <a:ext cx="1691640" cy="411480"/>
          </a:xfrm>
          <a:prstGeom prst="rect">
            <a:avLst/>
          </a:prstGeom>
          <a:noFill/>
          <a:ln/>
        </p:spPr>
        <p:txBody>
          <a:bodyPr wrap="square" lIns="0" tIns="0" rIns="0" bIns="0" rtlCol="0" anchor="ctr"/>
          <a:lstStyle/>
          <a:p>
            <a:pPr marL="0" indent="0">
              <a:buNone/>
            </a:pPr>
            <a:r>
              <a:rPr lang="en-US" sz="1900" b="1" dirty="0">
                <a:solidFill>
                  <a:srgbClr val="00E676"/>
                </a:solidFill>
              </a:rPr>
              <a:t>BDX +16.96%</a:t>
            </a:r>
            <a:endParaRPr lang="en-US" sz="1900" dirty="0"/>
          </a:p>
        </p:txBody>
      </p:sp>
      <p:sp>
        <p:nvSpPr>
          <p:cNvPr id="23" name="Text 20">
            <a:extLst>
              <a:ext uri="{FF2B5EF4-FFF2-40B4-BE49-F238E27FC236}">
                <a16:creationId xmlns:a16="http://schemas.microsoft.com/office/drawing/2014/main" id="{2731F448-6EF5-289D-B6D6-E20C4EF15F79}"/>
              </a:ext>
            </a:extLst>
          </p:cNvPr>
          <p:cNvSpPr/>
          <p:nvPr/>
        </p:nvSpPr>
        <p:spPr>
          <a:xfrm>
            <a:off x="7315200" y="5120640"/>
            <a:ext cx="1691640" cy="201168"/>
          </a:xfrm>
          <a:prstGeom prst="rect">
            <a:avLst/>
          </a:prstGeom>
          <a:noFill/>
          <a:ln/>
        </p:spPr>
        <p:txBody>
          <a:bodyPr wrap="square" lIns="0" tIns="0" rIns="0" bIns="0" rtlCol="0" anchor="ctr"/>
          <a:lstStyle/>
          <a:p>
            <a:pPr marL="0" indent="0">
              <a:buNone/>
            </a:pPr>
            <a:r>
              <a:rPr lang="en-US" sz="750" dirty="0">
                <a:solidFill>
                  <a:srgbClr val="C9D1D9"/>
                </a:solidFill>
              </a:rPr>
              <a:t>24h movement</a:t>
            </a:r>
            <a:endParaRPr lang="en-US" sz="750" dirty="0"/>
          </a:p>
        </p:txBody>
      </p:sp>
      <p:sp>
        <p:nvSpPr>
          <p:cNvPr id="24" name="Text 21">
            <a:extLst>
              <a:ext uri="{FF2B5EF4-FFF2-40B4-BE49-F238E27FC236}">
                <a16:creationId xmlns:a16="http://schemas.microsoft.com/office/drawing/2014/main" id="{4D10A0C3-1683-6CE9-591B-06834AD9FFC1}"/>
              </a:ext>
            </a:extLst>
          </p:cNvPr>
          <p:cNvSpPr/>
          <p:nvPr/>
        </p:nvSpPr>
        <p:spPr>
          <a:xfrm>
            <a:off x="9418320" y="4343400"/>
            <a:ext cx="1783080" cy="246888"/>
          </a:xfrm>
          <a:prstGeom prst="rect">
            <a:avLst/>
          </a:prstGeom>
          <a:noFill/>
          <a:ln/>
        </p:spPr>
        <p:txBody>
          <a:bodyPr wrap="square" lIns="0" tIns="0" rIns="0" bIns="0" rtlCol="0" anchor="ctr"/>
          <a:lstStyle/>
          <a:p>
            <a:pPr marL="0" indent="0">
              <a:buNone/>
            </a:pPr>
            <a:r>
              <a:rPr lang="en-US" sz="770" b="1" dirty="0">
                <a:solidFill>
                  <a:srgbClr val="9AA4B2"/>
                </a:solidFill>
              </a:rPr>
              <a:t>TOP LOSER</a:t>
            </a:r>
            <a:endParaRPr lang="en-US" sz="770" dirty="0"/>
          </a:p>
        </p:txBody>
      </p:sp>
      <p:sp>
        <p:nvSpPr>
          <p:cNvPr id="25" name="Text 22">
            <a:extLst>
              <a:ext uri="{FF2B5EF4-FFF2-40B4-BE49-F238E27FC236}">
                <a16:creationId xmlns:a16="http://schemas.microsoft.com/office/drawing/2014/main" id="{17764787-5EB0-A1C5-B78F-441316C5F3AA}"/>
              </a:ext>
            </a:extLst>
          </p:cNvPr>
          <p:cNvSpPr/>
          <p:nvPr/>
        </p:nvSpPr>
        <p:spPr>
          <a:xfrm>
            <a:off x="9418320" y="4654296"/>
            <a:ext cx="1783080" cy="411480"/>
          </a:xfrm>
          <a:prstGeom prst="rect">
            <a:avLst/>
          </a:prstGeom>
          <a:noFill/>
          <a:ln/>
        </p:spPr>
        <p:txBody>
          <a:bodyPr wrap="square" lIns="0" tIns="0" rIns="0" bIns="0" rtlCol="0" anchor="ctr"/>
          <a:lstStyle/>
          <a:p>
            <a:pPr marL="0" indent="0">
              <a:buNone/>
            </a:pPr>
            <a:r>
              <a:rPr lang="en-US" sz="1900" b="1" dirty="0">
                <a:solidFill>
                  <a:srgbClr val="FF174D"/>
                </a:solidFill>
              </a:rPr>
              <a:t>DEXE -18.58%</a:t>
            </a:r>
            <a:endParaRPr lang="en-US" sz="1900" dirty="0"/>
          </a:p>
        </p:txBody>
      </p:sp>
      <p:sp>
        <p:nvSpPr>
          <p:cNvPr id="26" name="Text 23">
            <a:extLst>
              <a:ext uri="{FF2B5EF4-FFF2-40B4-BE49-F238E27FC236}">
                <a16:creationId xmlns:a16="http://schemas.microsoft.com/office/drawing/2014/main" id="{EB05EC43-15C4-59FD-D74D-20DA0A2286CD}"/>
              </a:ext>
            </a:extLst>
          </p:cNvPr>
          <p:cNvSpPr/>
          <p:nvPr/>
        </p:nvSpPr>
        <p:spPr>
          <a:xfrm>
            <a:off x="9418320" y="5120640"/>
            <a:ext cx="1783080" cy="201168"/>
          </a:xfrm>
          <a:prstGeom prst="rect">
            <a:avLst/>
          </a:prstGeom>
          <a:noFill/>
          <a:ln/>
        </p:spPr>
        <p:txBody>
          <a:bodyPr wrap="square" lIns="0" tIns="0" rIns="0" bIns="0" rtlCol="0" anchor="ctr"/>
          <a:lstStyle/>
          <a:p>
            <a:pPr marL="0" indent="0">
              <a:buNone/>
            </a:pPr>
            <a:r>
              <a:rPr lang="en-US" sz="750" dirty="0">
                <a:solidFill>
                  <a:srgbClr val="C9D1D9"/>
                </a:solidFill>
              </a:rPr>
              <a:t>24h movement</a:t>
            </a:r>
            <a:endParaRPr lang="en-US" sz="750" dirty="0"/>
          </a:p>
        </p:txBody>
      </p:sp>
      <p:sp>
        <p:nvSpPr>
          <p:cNvPr id="27" name="Text 24">
            <a:extLst>
              <a:ext uri="{FF2B5EF4-FFF2-40B4-BE49-F238E27FC236}">
                <a16:creationId xmlns:a16="http://schemas.microsoft.com/office/drawing/2014/main" id="{B0206343-F750-1ED4-3818-613C511B6233}"/>
              </a:ext>
            </a:extLst>
          </p:cNvPr>
          <p:cNvSpPr/>
          <p:nvPr/>
        </p:nvSpPr>
        <p:spPr>
          <a:xfrm>
            <a:off x="5166360" y="5532120"/>
            <a:ext cx="5943600" cy="201168"/>
          </a:xfrm>
          <a:prstGeom prst="rect">
            <a:avLst/>
          </a:prstGeom>
          <a:noFill/>
          <a:ln/>
        </p:spPr>
        <p:txBody>
          <a:bodyPr wrap="square" lIns="0" tIns="0" rIns="0" bIns="0" rtlCol="0" anchor="ctr"/>
          <a:lstStyle/>
          <a:p>
            <a:pPr marL="0" indent="0">
              <a:buNone/>
            </a:pPr>
            <a:r>
              <a:rPr lang="en-US" sz="1050" dirty="0">
                <a:solidFill>
                  <a:srgbClr val="C9D1D9"/>
                </a:solidFill>
              </a:rPr>
              <a:t>API → clean metrics → local SQL storage → dashboard + ML prediction layer</a:t>
            </a:r>
            <a:endParaRPr lang="en-US" sz="1050" dirty="0"/>
          </a:p>
        </p:txBody>
      </p:sp>
      <p:sp>
        <p:nvSpPr>
          <p:cNvPr id="28" name="Slide Number Placeholder 0">
            <a:extLst>
              <a:ext uri="{FF2B5EF4-FFF2-40B4-BE49-F238E27FC236}">
                <a16:creationId xmlns:a16="http://schemas.microsoft.com/office/drawing/2014/main" id="{0C470B9E-FF69-B2AB-F6E0-E32E128D3E87}"/>
              </a:ext>
            </a:extLst>
          </p:cNvPr>
          <p:cNvSpPr>
            <a:spLocks noGrp="1"/>
          </p:cNvSpPr>
          <p:nvPr>
            <p:ph type="sldNum" sz="quarter" idx="4294967295"/>
          </p:nvPr>
        </p:nvSpPr>
        <p:spPr>
          <a:xfrm>
            <a:off x="11795760" y="6446520"/>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7D8590"/>
                </a:solidFill>
                <a:latin typeface="Aptos"/>
                <a:ea typeface="Aptos"/>
                <a:cs typeface="Aptos"/>
              </a:defRPr>
            </a:lvl1pPr>
          </a:lstStyle>
          <a:p>
            <a:pPr algn="l"/>
            <a:fld id="{F7021451-1387-4CA6-816F-3879F97B5CBC}" type="slidenum">
              <a:rPr lang="en-US" b="0"/>
              <a:t>2</a:t>
            </a:fld>
            <a:endParaRPr lang="en-US"/>
          </a:p>
        </p:txBody>
      </p:sp>
    </p:spTree>
    <p:extLst>
      <p:ext uri="{BB962C8B-B14F-4D97-AF65-F5344CB8AC3E}">
        <p14:creationId xmlns:p14="http://schemas.microsoft.com/office/powerpoint/2010/main" val="3886129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94360" y="384048"/>
            <a:ext cx="4297680" cy="228600"/>
          </a:xfrm>
          <a:prstGeom prst="rect">
            <a:avLst/>
          </a:prstGeom>
          <a:noFill/>
          <a:ln/>
        </p:spPr>
        <p:txBody>
          <a:bodyPr wrap="square" lIns="0" tIns="0" rIns="0" bIns="0" rtlCol="0" anchor="ctr"/>
          <a:lstStyle/>
          <a:p>
            <a:pPr marL="0" indent="0">
              <a:buNone/>
            </a:pPr>
            <a:r>
              <a:rPr lang="en-US" sz="900" b="1" dirty="0">
                <a:solidFill>
                  <a:srgbClr val="FFD400"/>
                </a:solidFill>
                <a:latin typeface="Aptos" pitchFamily="34" charset="0"/>
                <a:ea typeface="Aptos" pitchFamily="34" charset="-122"/>
                <a:cs typeface="Aptos" pitchFamily="34" charset="-120"/>
              </a:rPr>
              <a:t>SOLUTION ARCHITECTURE</a:t>
            </a:r>
            <a:endParaRPr lang="en-US" sz="900" dirty="0"/>
          </a:p>
        </p:txBody>
      </p:sp>
      <p:sp>
        <p:nvSpPr>
          <p:cNvPr id="3" name="Text 1"/>
          <p:cNvSpPr/>
          <p:nvPr/>
        </p:nvSpPr>
        <p:spPr>
          <a:xfrm>
            <a:off x="566928" y="676656"/>
            <a:ext cx="7040880" cy="685800"/>
          </a:xfrm>
          <a:prstGeom prst="rect">
            <a:avLst/>
          </a:prstGeom>
          <a:noFill/>
          <a:ln/>
        </p:spPr>
        <p:txBody>
          <a:bodyPr wrap="square" lIns="0" tIns="0" rIns="0" bIns="0" rtlCol="0" anchor="ctr"/>
          <a:lstStyle/>
          <a:p>
            <a:pPr marL="0" indent="0">
              <a:buNone/>
            </a:pPr>
            <a:r>
              <a:rPr lang="en-US" sz="3000" b="1" dirty="0">
                <a:solidFill>
                  <a:srgbClr val="F8FAFC"/>
                </a:solidFill>
                <a:latin typeface="Aptos Display" pitchFamily="34" charset="0"/>
                <a:ea typeface="Aptos Display" pitchFamily="34" charset="-122"/>
                <a:cs typeface="Aptos Display" pitchFamily="34" charset="-120"/>
              </a:rPr>
              <a:t>From raw API data to BI dashboard</a:t>
            </a:r>
            <a:endParaRPr lang="en-US" sz="3000" dirty="0"/>
          </a:p>
        </p:txBody>
      </p:sp>
      <p:sp>
        <p:nvSpPr>
          <p:cNvPr id="4" name="Text 2"/>
          <p:cNvSpPr/>
          <p:nvPr/>
        </p:nvSpPr>
        <p:spPr>
          <a:xfrm>
            <a:off x="603504" y="1481328"/>
            <a:ext cx="8412480" cy="320040"/>
          </a:xfrm>
          <a:prstGeom prst="rect">
            <a:avLst/>
          </a:prstGeom>
          <a:noFill/>
          <a:ln/>
        </p:spPr>
        <p:txBody>
          <a:bodyPr wrap="square" lIns="0" tIns="0" rIns="0" bIns="0" rtlCol="0" anchor="ctr"/>
          <a:lstStyle/>
          <a:p>
            <a:pPr marL="0" indent="0">
              <a:buNone/>
            </a:pPr>
            <a:r>
              <a:rPr lang="en-US" sz="1250" dirty="0">
                <a:solidFill>
                  <a:srgbClr val="C9D1D9"/>
                </a:solidFill>
                <a:latin typeface="Aptos" pitchFamily="34" charset="0"/>
                <a:ea typeface="Aptos" pitchFamily="34" charset="-122"/>
                <a:cs typeface="Aptos" pitchFamily="34" charset="-120"/>
              </a:rPr>
              <a:t>A modular ETL/ELT workflow designed for reproducibility, scheduling, and live demonstration.</a:t>
            </a:r>
            <a:endParaRPr lang="en-US" sz="1250" dirty="0"/>
          </a:p>
        </p:txBody>
      </p:sp>
      <p:sp>
        <p:nvSpPr>
          <p:cNvPr id="5" name="Shape 3"/>
          <p:cNvSpPr/>
          <p:nvPr/>
        </p:nvSpPr>
        <p:spPr>
          <a:xfrm>
            <a:off x="2194560" y="3493008"/>
            <a:ext cx="347472" cy="0"/>
          </a:xfrm>
          <a:prstGeom prst="line">
            <a:avLst/>
          </a:prstGeom>
          <a:noFill/>
          <a:ln w="25400">
            <a:solidFill>
              <a:srgbClr val="2B3342"/>
            </a:solidFill>
            <a:prstDash val="solid"/>
            <a:headEnd type="none"/>
            <a:tailEnd type="triangle"/>
          </a:ln>
        </p:spPr>
      </p:sp>
      <p:sp>
        <p:nvSpPr>
          <p:cNvPr id="6" name="Shape 4"/>
          <p:cNvSpPr/>
          <p:nvPr/>
        </p:nvSpPr>
        <p:spPr>
          <a:xfrm>
            <a:off x="4142232" y="3493008"/>
            <a:ext cx="356616" cy="0"/>
          </a:xfrm>
          <a:prstGeom prst="line">
            <a:avLst/>
          </a:prstGeom>
          <a:noFill/>
          <a:ln w="25400">
            <a:solidFill>
              <a:srgbClr val="2B3342"/>
            </a:solidFill>
            <a:prstDash val="solid"/>
            <a:headEnd type="none"/>
            <a:tailEnd type="triangle"/>
          </a:ln>
        </p:spPr>
      </p:sp>
      <p:sp>
        <p:nvSpPr>
          <p:cNvPr id="7" name="Shape 5"/>
          <p:cNvSpPr/>
          <p:nvPr/>
        </p:nvSpPr>
        <p:spPr>
          <a:xfrm>
            <a:off x="6144768" y="3493008"/>
            <a:ext cx="347472" cy="0"/>
          </a:xfrm>
          <a:prstGeom prst="line">
            <a:avLst/>
          </a:prstGeom>
          <a:noFill/>
          <a:ln w="25400">
            <a:solidFill>
              <a:srgbClr val="2B3342"/>
            </a:solidFill>
            <a:prstDash val="solid"/>
            <a:headEnd type="none"/>
            <a:tailEnd type="triangle"/>
          </a:ln>
        </p:spPr>
      </p:sp>
      <p:sp>
        <p:nvSpPr>
          <p:cNvPr id="8" name="Shape 6"/>
          <p:cNvSpPr/>
          <p:nvPr/>
        </p:nvSpPr>
        <p:spPr>
          <a:xfrm>
            <a:off x="8275320" y="3493008"/>
            <a:ext cx="393192" cy="0"/>
          </a:xfrm>
          <a:prstGeom prst="line">
            <a:avLst/>
          </a:prstGeom>
          <a:noFill/>
          <a:ln w="25400">
            <a:solidFill>
              <a:srgbClr val="2B3342"/>
            </a:solidFill>
            <a:prstDash val="solid"/>
            <a:headEnd type="none"/>
            <a:tailEnd type="triangle"/>
          </a:ln>
        </p:spPr>
      </p:sp>
      <p:sp>
        <p:nvSpPr>
          <p:cNvPr id="9" name="Text 7"/>
          <p:cNvSpPr/>
          <p:nvPr/>
        </p:nvSpPr>
        <p:spPr>
          <a:xfrm>
            <a:off x="685800" y="2331720"/>
            <a:ext cx="150876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685800" y="2807208"/>
            <a:ext cx="1508760" cy="320040"/>
          </a:xfrm>
          <a:prstGeom prst="roundRect">
            <a:avLst>
              <a:gd name="adj" fmla="val 22857"/>
            </a:avLst>
          </a:prstGeom>
          <a:solidFill>
            <a:srgbClr val="141922"/>
          </a:solidFill>
          <a:ln w="12700">
            <a:solidFill>
              <a:srgbClr val="17B5E5">
                <a:alpha val="60000"/>
              </a:srgbClr>
            </a:solidFill>
          </a:ln>
        </p:spPr>
        <p:txBody>
          <a:bodyPr wrap="square" lIns="254" tIns="254" rIns="254" bIns="254" rtlCol="0" anchor="ctr"/>
          <a:lstStyle/>
          <a:p>
            <a:pPr marL="0" indent="0" algn="ctr">
              <a:buNone/>
            </a:pPr>
            <a:r>
              <a:rPr lang="en-US" sz="950" b="1" dirty="0">
                <a:solidFill>
                  <a:srgbClr val="17B5E5"/>
                </a:solidFill>
              </a:rPr>
              <a:t>EXTRACT</a:t>
            </a:r>
            <a:endParaRPr lang="en-US" sz="950" dirty="0"/>
          </a:p>
        </p:txBody>
      </p:sp>
      <p:sp>
        <p:nvSpPr>
          <p:cNvPr id="11" name="Text 9"/>
          <p:cNvSpPr/>
          <p:nvPr/>
        </p:nvSpPr>
        <p:spPr>
          <a:xfrm>
            <a:off x="685800" y="3246120"/>
            <a:ext cx="1508760" cy="685800"/>
          </a:xfrm>
          <a:prstGeom prst="roundRect">
            <a:avLst>
              <a:gd name="adj" fmla="val 10667"/>
            </a:avLst>
          </a:prstGeom>
          <a:solidFill>
            <a:srgbClr val="0F172A"/>
          </a:solidFill>
          <a:ln>
            <a:solidFill>
              <a:srgbClr val="2B3342"/>
            </a:solidFill>
          </a:ln>
        </p:spPr>
        <p:txBody>
          <a:bodyPr wrap="square" lIns="508" tIns="508" rIns="508" bIns="508" rtlCol="0" anchor="ctr"/>
          <a:lstStyle/>
          <a:p>
            <a:pPr marL="0" indent="0" algn="ctr">
              <a:buNone/>
            </a:pPr>
            <a:r>
              <a:rPr lang="en-US" sz="920" dirty="0">
                <a:solidFill>
                  <a:srgbClr val="C9D1D9"/>
                </a:solidFill>
              </a:rPr>
              <a:t>CoinGecko</a:t>
            </a:r>
            <a:endParaRPr lang="en-US" sz="920" dirty="0"/>
          </a:p>
          <a:p>
            <a:pPr marL="0" indent="0" algn="ctr">
              <a:buNone/>
            </a:pPr>
            <a:r>
              <a:rPr lang="en-US" sz="920" dirty="0">
                <a:solidFill>
                  <a:srgbClr val="C9D1D9"/>
                </a:solidFill>
              </a:rPr>
              <a:t>/coins/markets</a:t>
            </a:r>
            <a:endParaRPr lang="en-US" sz="920" dirty="0"/>
          </a:p>
        </p:txBody>
      </p:sp>
      <p:sp>
        <p:nvSpPr>
          <p:cNvPr id="12" name="Text 10"/>
          <p:cNvSpPr/>
          <p:nvPr/>
        </p:nvSpPr>
        <p:spPr>
          <a:xfrm>
            <a:off x="2542032" y="2331720"/>
            <a:ext cx="160020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2542032" y="2807208"/>
            <a:ext cx="1600200" cy="320040"/>
          </a:xfrm>
          <a:prstGeom prst="roundRect">
            <a:avLst>
              <a:gd name="adj" fmla="val 22857"/>
            </a:avLst>
          </a:prstGeom>
          <a:solidFill>
            <a:srgbClr val="141922"/>
          </a:solidFill>
          <a:ln w="12700">
            <a:solidFill>
              <a:srgbClr val="00E676">
                <a:alpha val="60000"/>
              </a:srgbClr>
            </a:solidFill>
          </a:ln>
        </p:spPr>
        <p:txBody>
          <a:bodyPr wrap="square" lIns="254" tIns="254" rIns="254" bIns="254" rtlCol="0" anchor="ctr"/>
          <a:lstStyle/>
          <a:p>
            <a:pPr marL="0" indent="0" algn="ctr">
              <a:buNone/>
            </a:pPr>
            <a:r>
              <a:rPr lang="en-US" sz="950" b="1" dirty="0">
                <a:solidFill>
                  <a:srgbClr val="00E676"/>
                </a:solidFill>
              </a:rPr>
              <a:t>TRANSFORM</a:t>
            </a:r>
            <a:endParaRPr lang="en-US" sz="950" dirty="0"/>
          </a:p>
        </p:txBody>
      </p:sp>
      <p:sp>
        <p:nvSpPr>
          <p:cNvPr id="14" name="Text 12"/>
          <p:cNvSpPr/>
          <p:nvPr/>
        </p:nvSpPr>
        <p:spPr>
          <a:xfrm>
            <a:off x="2542032" y="3246120"/>
            <a:ext cx="1600200" cy="685800"/>
          </a:xfrm>
          <a:prstGeom prst="roundRect">
            <a:avLst>
              <a:gd name="adj" fmla="val 10667"/>
            </a:avLst>
          </a:prstGeom>
          <a:solidFill>
            <a:srgbClr val="0F172A"/>
          </a:solidFill>
          <a:ln>
            <a:solidFill>
              <a:srgbClr val="2B3342"/>
            </a:solidFill>
          </a:ln>
        </p:spPr>
        <p:txBody>
          <a:bodyPr wrap="square" lIns="508" tIns="508" rIns="508" bIns="508" rtlCol="0" anchor="ctr"/>
          <a:lstStyle/>
          <a:p>
            <a:pPr marL="0" indent="0" algn="ctr">
              <a:buNone/>
            </a:pPr>
            <a:r>
              <a:rPr lang="en-US" sz="920" dirty="0">
                <a:solidFill>
                  <a:srgbClr val="C9D1D9"/>
                </a:solidFill>
              </a:rPr>
              <a:t>Pandas</a:t>
            </a:r>
            <a:endParaRPr lang="en-US" sz="920" dirty="0"/>
          </a:p>
          <a:p>
            <a:pPr marL="0" indent="0" algn="ctr">
              <a:buNone/>
            </a:pPr>
            <a:r>
              <a:rPr lang="en-US" sz="920" dirty="0">
                <a:solidFill>
                  <a:srgbClr val="C9D1D9"/>
                </a:solidFill>
              </a:rPr>
              <a:t>feature engineering</a:t>
            </a:r>
            <a:endParaRPr lang="en-US" sz="920" dirty="0"/>
          </a:p>
        </p:txBody>
      </p:sp>
      <p:sp>
        <p:nvSpPr>
          <p:cNvPr id="15" name="Text 13"/>
          <p:cNvSpPr/>
          <p:nvPr/>
        </p:nvSpPr>
        <p:spPr>
          <a:xfrm>
            <a:off x="4498848" y="2331720"/>
            <a:ext cx="164592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4498848" y="2807208"/>
            <a:ext cx="1645920" cy="320040"/>
          </a:xfrm>
          <a:prstGeom prst="roundRect">
            <a:avLst>
              <a:gd name="adj" fmla="val 22857"/>
            </a:avLst>
          </a:prstGeom>
          <a:solidFill>
            <a:srgbClr val="141922"/>
          </a:solidFill>
          <a:ln w="12700">
            <a:solidFill>
              <a:srgbClr val="FFD400">
                <a:alpha val="60000"/>
              </a:srgbClr>
            </a:solidFill>
          </a:ln>
        </p:spPr>
        <p:txBody>
          <a:bodyPr wrap="square" lIns="254" tIns="254" rIns="254" bIns="254" rtlCol="0" anchor="ctr"/>
          <a:lstStyle/>
          <a:p>
            <a:pPr marL="0" indent="0" algn="ctr">
              <a:buNone/>
            </a:pPr>
            <a:r>
              <a:rPr lang="en-US" sz="950" b="1" dirty="0">
                <a:solidFill>
                  <a:srgbClr val="FFD400"/>
                </a:solidFill>
              </a:rPr>
              <a:t>LOAD</a:t>
            </a:r>
            <a:endParaRPr lang="en-US" sz="950" dirty="0"/>
          </a:p>
        </p:txBody>
      </p:sp>
      <p:sp>
        <p:nvSpPr>
          <p:cNvPr id="17" name="Text 15"/>
          <p:cNvSpPr/>
          <p:nvPr/>
        </p:nvSpPr>
        <p:spPr>
          <a:xfrm>
            <a:off x="4498848" y="3246120"/>
            <a:ext cx="1645920" cy="685800"/>
          </a:xfrm>
          <a:prstGeom prst="roundRect">
            <a:avLst>
              <a:gd name="adj" fmla="val 10667"/>
            </a:avLst>
          </a:prstGeom>
          <a:solidFill>
            <a:srgbClr val="0F172A"/>
          </a:solidFill>
          <a:ln>
            <a:solidFill>
              <a:srgbClr val="2B3342"/>
            </a:solidFill>
          </a:ln>
        </p:spPr>
        <p:txBody>
          <a:bodyPr wrap="square" lIns="508" tIns="508" rIns="508" bIns="508" rtlCol="0" anchor="ctr"/>
          <a:lstStyle/>
          <a:p>
            <a:pPr marL="0" indent="0" algn="ctr">
              <a:buNone/>
            </a:pPr>
            <a:r>
              <a:rPr lang="en-US" sz="920" dirty="0">
                <a:solidFill>
                  <a:srgbClr val="C9D1D9"/>
                </a:solidFill>
              </a:rPr>
              <a:t>Local SQL DB</a:t>
            </a:r>
            <a:endParaRPr lang="en-US" sz="920" dirty="0"/>
          </a:p>
          <a:p>
            <a:pPr marL="0" indent="0" algn="ctr">
              <a:buNone/>
            </a:pPr>
            <a:r>
              <a:rPr lang="en-US" sz="920" dirty="0">
                <a:solidFill>
                  <a:srgbClr val="C9D1D9"/>
                </a:solidFill>
              </a:rPr>
              <a:t>PostgreSQL / MySQL</a:t>
            </a:r>
            <a:endParaRPr lang="en-US" sz="920" dirty="0"/>
          </a:p>
        </p:txBody>
      </p:sp>
      <p:sp>
        <p:nvSpPr>
          <p:cNvPr id="18" name="Text 16"/>
          <p:cNvSpPr/>
          <p:nvPr/>
        </p:nvSpPr>
        <p:spPr>
          <a:xfrm>
            <a:off x="6492240" y="2331720"/>
            <a:ext cx="178308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6492240" y="2807208"/>
            <a:ext cx="1783080" cy="320040"/>
          </a:xfrm>
          <a:prstGeom prst="roundRect">
            <a:avLst>
              <a:gd name="adj" fmla="val 22857"/>
            </a:avLst>
          </a:prstGeom>
          <a:solidFill>
            <a:srgbClr val="141922"/>
          </a:solidFill>
          <a:ln w="12700">
            <a:solidFill>
              <a:srgbClr val="D946EF">
                <a:alpha val="60000"/>
              </a:srgbClr>
            </a:solidFill>
          </a:ln>
        </p:spPr>
        <p:txBody>
          <a:bodyPr wrap="square" lIns="254" tIns="254" rIns="254" bIns="254" rtlCol="0" anchor="ctr"/>
          <a:lstStyle/>
          <a:p>
            <a:pPr marL="0" indent="0" algn="ctr">
              <a:buNone/>
            </a:pPr>
            <a:r>
              <a:rPr lang="en-US" sz="950" b="1" dirty="0">
                <a:solidFill>
                  <a:srgbClr val="D946EF"/>
                </a:solidFill>
              </a:rPr>
              <a:t>ANALYZE</a:t>
            </a:r>
            <a:endParaRPr lang="en-US" sz="950" dirty="0"/>
          </a:p>
        </p:txBody>
      </p:sp>
      <p:sp>
        <p:nvSpPr>
          <p:cNvPr id="20" name="Text 18"/>
          <p:cNvSpPr/>
          <p:nvPr/>
        </p:nvSpPr>
        <p:spPr>
          <a:xfrm>
            <a:off x="6492240" y="3246120"/>
            <a:ext cx="1783080" cy="685800"/>
          </a:xfrm>
          <a:prstGeom prst="roundRect">
            <a:avLst>
              <a:gd name="adj" fmla="val 10667"/>
            </a:avLst>
          </a:prstGeom>
          <a:solidFill>
            <a:srgbClr val="0F172A"/>
          </a:solidFill>
          <a:ln>
            <a:solidFill>
              <a:srgbClr val="2B3342"/>
            </a:solidFill>
          </a:ln>
        </p:spPr>
        <p:txBody>
          <a:bodyPr wrap="square" lIns="508" tIns="508" rIns="508" bIns="508" rtlCol="0" anchor="ctr"/>
          <a:lstStyle/>
          <a:p>
            <a:pPr marL="0" indent="0" algn="ctr">
              <a:buNone/>
            </a:pPr>
            <a:r>
              <a:rPr lang="en-US" sz="920" dirty="0">
                <a:solidFill>
                  <a:srgbClr val="C9D1D9"/>
                </a:solidFill>
              </a:rPr>
              <a:t>SQL queries</a:t>
            </a:r>
            <a:endParaRPr lang="en-US" sz="920" dirty="0"/>
          </a:p>
          <a:p>
            <a:pPr marL="0" indent="0" algn="ctr">
              <a:buNone/>
            </a:pPr>
            <a:r>
              <a:rPr lang="en-US" sz="920" dirty="0">
                <a:solidFill>
                  <a:srgbClr val="C9D1D9"/>
                </a:solidFill>
              </a:rPr>
              <a:t>Streamlit dashboard</a:t>
            </a:r>
            <a:endParaRPr lang="en-US" sz="920" dirty="0"/>
          </a:p>
        </p:txBody>
      </p:sp>
      <p:sp>
        <p:nvSpPr>
          <p:cNvPr id="21" name="Text 19"/>
          <p:cNvSpPr/>
          <p:nvPr/>
        </p:nvSpPr>
        <p:spPr>
          <a:xfrm>
            <a:off x="8668512" y="2331720"/>
            <a:ext cx="178308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8668512" y="2807208"/>
            <a:ext cx="1783080" cy="320040"/>
          </a:xfrm>
          <a:prstGeom prst="roundRect">
            <a:avLst>
              <a:gd name="adj" fmla="val 22857"/>
            </a:avLst>
          </a:prstGeom>
          <a:solidFill>
            <a:srgbClr val="141922"/>
          </a:solidFill>
          <a:ln w="12700">
            <a:solidFill>
              <a:srgbClr val="7C3AED">
                <a:alpha val="60000"/>
              </a:srgbClr>
            </a:solidFill>
          </a:ln>
        </p:spPr>
        <p:txBody>
          <a:bodyPr wrap="square" lIns="254" tIns="254" rIns="254" bIns="254" rtlCol="0" anchor="ctr"/>
          <a:lstStyle/>
          <a:p>
            <a:pPr marL="0" indent="0" algn="ctr">
              <a:buNone/>
            </a:pPr>
            <a:r>
              <a:rPr lang="en-US" sz="950" b="1" dirty="0">
                <a:solidFill>
                  <a:srgbClr val="7C3AED"/>
                </a:solidFill>
              </a:rPr>
              <a:t>PREDICT</a:t>
            </a:r>
            <a:endParaRPr lang="en-US" sz="950" dirty="0"/>
          </a:p>
        </p:txBody>
      </p:sp>
      <p:sp>
        <p:nvSpPr>
          <p:cNvPr id="23" name="Text 21"/>
          <p:cNvSpPr/>
          <p:nvPr/>
        </p:nvSpPr>
        <p:spPr>
          <a:xfrm>
            <a:off x="8668512" y="3246120"/>
            <a:ext cx="1783080" cy="685800"/>
          </a:xfrm>
          <a:prstGeom prst="roundRect">
            <a:avLst>
              <a:gd name="adj" fmla="val 10667"/>
            </a:avLst>
          </a:prstGeom>
          <a:solidFill>
            <a:srgbClr val="0F172A"/>
          </a:solidFill>
          <a:ln>
            <a:solidFill>
              <a:srgbClr val="2B3342"/>
            </a:solidFill>
          </a:ln>
        </p:spPr>
        <p:txBody>
          <a:bodyPr wrap="square" lIns="508" tIns="508" rIns="508" bIns="508" rtlCol="0" anchor="ctr"/>
          <a:lstStyle/>
          <a:p>
            <a:pPr marL="0" indent="0" algn="ctr">
              <a:buNone/>
            </a:pPr>
            <a:r>
              <a:rPr lang="en-US" sz="920" dirty="0">
                <a:solidFill>
                  <a:srgbClr val="C9D1D9"/>
                </a:solidFill>
              </a:rPr>
              <a:t>Random Forest</a:t>
            </a:r>
            <a:endParaRPr lang="en-US" sz="920" dirty="0"/>
          </a:p>
          <a:p>
            <a:pPr marL="0" indent="0" algn="ctr">
              <a:buNone/>
            </a:pPr>
            <a:r>
              <a:rPr lang="en-US" sz="920" dirty="0">
                <a:solidFill>
                  <a:srgbClr val="C9D1D9"/>
                </a:solidFill>
              </a:rPr>
              <a:t>price direction</a:t>
            </a:r>
            <a:endParaRPr lang="en-US" sz="920" dirty="0"/>
          </a:p>
        </p:txBody>
      </p:sp>
      <p:sp>
        <p:nvSpPr>
          <p:cNvPr id="24" name="Shape 22"/>
          <p:cNvSpPr/>
          <p:nvPr/>
        </p:nvSpPr>
        <p:spPr>
          <a:xfrm>
            <a:off x="676656" y="4892040"/>
            <a:ext cx="9765792" cy="1274064"/>
          </a:xfrm>
          <a:prstGeom prst="roundRect">
            <a:avLst>
              <a:gd name="adj" fmla="val 11429"/>
            </a:avLst>
          </a:prstGeom>
          <a:solidFill>
            <a:srgbClr val="141922"/>
          </a:solidFill>
          <a:ln w="12700">
            <a:solidFill>
              <a:srgbClr val="2B3342">
                <a:alpha val="90000"/>
              </a:srgbClr>
            </a:solidFill>
            <a:prstDash val="solid"/>
          </a:ln>
        </p:spPr>
      </p:sp>
      <p:sp>
        <p:nvSpPr>
          <p:cNvPr id="25" name="Text 23"/>
          <p:cNvSpPr/>
          <p:nvPr/>
        </p:nvSpPr>
        <p:spPr>
          <a:xfrm>
            <a:off x="932688" y="5020056"/>
            <a:ext cx="1417320" cy="246888"/>
          </a:xfrm>
          <a:prstGeom prst="rect">
            <a:avLst/>
          </a:prstGeom>
          <a:noFill/>
          <a:ln/>
        </p:spPr>
        <p:txBody>
          <a:bodyPr wrap="square" lIns="0" tIns="0" rIns="0" bIns="0" rtlCol="0" anchor="ctr"/>
          <a:lstStyle/>
          <a:p>
            <a:pPr marL="0" indent="0">
              <a:buNone/>
            </a:pPr>
            <a:r>
              <a:rPr lang="en-US" sz="770" b="1" dirty="0">
                <a:solidFill>
                  <a:srgbClr val="9AA4B2"/>
                </a:solidFill>
              </a:rPr>
              <a:t>EXTRACTED PER RUN</a:t>
            </a:r>
            <a:endParaRPr lang="en-US" sz="770" dirty="0"/>
          </a:p>
        </p:txBody>
      </p:sp>
      <p:sp>
        <p:nvSpPr>
          <p:cNvPr id="26" name="Text 24"/>
          <p:cNvSpPr/>
          <p:nvPr/>
        </p:nvSpPr>
        <p:spPr>
          <a:xfrm>
            <a:off x="932688" y="5330952"/>
            <a:ext cx="1417320" cy="411480"/>
          </a:xfrm>
          <a:prstGeom prst="rect">
            <a:avLst/>
          </a:prstGeom>
          <a:noFill/>
          <a:ln/>
        </p:spPr>
        <p:txBody>
          <a:bodyPr wrap="square" lIns="0" tIns="0" rIns="0" bIns="0" rtlCol="0" anchor="ctr"/>
          <a:lstStyle/>
          <a:p>
            <a:pPr marL="0" indent="0">
              <a:buNone/>
            </a:pPr>
            <a:r>
              <a:rPr lang="en-US" sz="1900" b="1" dirty="0">
                <a:solidFill>
                  <a:srgbClr val="17B5E5"/>
                </a:solidFill>
              </a:rPr>
              <a:t>100 coins</a:t>
            </a:r>
            <a:endParaRPr lang="en-US" sz="1900" dirty="0"/>
          </a:p>
        </p:txBody>
      </p:sp>
      <p:sp>
        <p:nvSpPr>
          <p:cNvPr id="27" name="Text 25"/>
          <p:cNvSpPr/>
          <p:nvPr/>
        </p:nvSpPr>
        <p:spPr>
          <a:xfrm>
            <a:off x="932688" y="5797296"/>
            <a:ext cx="1417320" cy="201168"/>
          </a:xfrm>
          <a:prstGeom prst="rect">
            <a:avLst/>
          </a:prstGeom>
          <a:noFill/>
          <a:ln/>
        </p:spPr>
        <p:txBody>
          <a:bodyPr wrap="square" lIns="0" tIns="0" rIns="0" bIns="0" rtlCol="0" anchor="ctr"/>
          <a:lstStyle/>
          <a:p>
            <a:pPr marL="0" indent="0">
              <a:buNone/>
            </a:pPr>
            <a:r>
              <a:rPr lang="en-US" sz="750" dirty="0">
                <a:solidFill>
                  <a:srgbClr val="C9D1D9"/>
                </a:solidFill>
              </a:rPr>
              <a:t>Top assets by market cap</a:t>
            </a:r>
            <a:endParaRPr lang="en-US" sz="750" dirty="0"/>
          </a:p>
        </p:txBody>
      </p:sp>
      <p:sp>
        <p:nvSpPr>
          <p:cNvPr id="28" name="Text 26"/>
          <p:cNvSpPr/>
          <p:nvPr/>
        </p:nvSpPr>
        <p:spPr>
          <a:xfrm>
            <a:off x="2834640" y="5020056"/>
            <a:ext cx="1280160" cy="246888"/>
          </a:xfrm>
          <a:prstGeom prst="rect">
            <a:avLst/>
          </a:prstGeom>
          <a:noFill/>
          <a:ln/>
        </p:spPr>
        <p:txBody>
          <a:bodyPr wrap="square" lIns="0" tIns="0" rIns="0" bIns="0" rtlCol="0" anchor="ctr"/>
          <a:lstStyle/>
          <a:p>
            <a:pPr marL="0" indent="0">
              <a:buNone/>
            </a:pPr>
            <a:r>
              <a:rPr lang="en-US" sz="770" b="1" dirty="0">
                <a:solidFill>
                  <a:srgbClr val="9AA4B2"/>
                </a:solidFill>
              </a:rPr>
              <a:t>STORAGE MODEL</a:t>
            </a:r>
            <a:endParaRPr lang="en-US" sz="770" dirty="0"/>
          </a:p>
        </p:txBody>
      </p:sp>
      <p:sp>
        <p:nvSpPr>
          <p:cNvPr id="29" name="Text 27"/>
          <p:cNvSpPr/>
          <p:nvPr/>
        </p:nvSpPr>
        <p:spPr>
          <a:xfrm>
            <a:off x="2834640" y="5330952"/>
            <a:ext cx="1280160" cy="411480"/>
          </a:xfrm>
          <a:prstGeom prst="rect">
            <a:avLst/>
          </a:prstGeom>
          <a:noFill/>
          <a:ln/>
        </p:spPr>
        <p:txBody>
          <a:bodyPr wrap="square" lIns="0" tIns="0" rIns="0" bIns="0" rtlCol="0" anchor="ctr"/>
          <a:lstStyle/>
          <a:p>
            <a:pPr marL="0" indent="0">
              <a:buNone/>
            </a:pPr>
            <a:r>
              <a:rPr lang="en-US" sz="1900" b="1" dirty="0">
                <a:solidFill>
                  <a:srgbClr val="FFD400"/>
                </a:solidFill>
              </a:rPr>
              <a:t>3 tables</a:t>
            </a:r>
            <a:endParaRPr lang="en-US" sz="1900" dirty="0"/>
          </a:p>
        </p:txBody>
      </p:sp>
      <p:sp>
        <p:nvSpPr>
          <p:cNvPr id="30" name="Text 28"/>
          <p:cNvSpPr/>
          <p:nvPr/>
        </p:nvSpPr>
        <p:spPr>
          <a:xfrm>
            <a:off x="2834640" y="5797296"/>
            <a:ext cx="1280160" cy="201168"/>
          </a:xfrm>
          <a:prstGeom prst="rect">
            <a:avLst/>
          </a:prstGeom>
          <a:noFill/>
          <a:ln/>
        </p:spPr>
        <p:txBody>
          <a:bodyPr wrap="square" lIns="0" tIns="0" rIns="0" bIns="0" rtlCol="0" anchor="ctr"/>
          <a:lstStyle/>
          <a:p>
            <a:pPr marL="0" indent="0">
              <a:buNone/>
            </a:pPr>
            <a:r>
              <a:rPr lang="en-US" sz="750" dirty="0">
                <a:solidFill>
                  <a:srgbClr val="C9D1D9"/>
                </a:solidFill>
              </a:rPr>
              <a:t>dim_coin, fact_snapshot, etl_log</a:t>
            </a:r>
            <a:endParaRPr lang="en-US" sz="750" dirty="0"/>
          </a:p>
        </p:txBody>
      </p:sp>
      <p:sp>
        <p:nvSpPr>
          <p:cNvPr id="31" name="Text 29"/>
          <p:cNvSpPr/>
          <p:nvPr/>
        </p:nvSpPr>
        <p:spPr>
          <a:xfrm>
            <a:off x="4617720" y="5020056"/>
            <a:ext cx="2286000" cy="246888"/>
          </a:xfrm>
          <a:prstGeom prst="rect">
            <a:avLst/>
          </a:prstGeom>
          <a:noFill/>
          <a:ln/>
        </p:spPr>
        <p:txBody>
          <a:bodyPr wrap="square" lIns="0" tIns="0" rIns="0" bIns="0" rtlCol="0" anchor="ctr"/>
          <a:lstStyle/>
          <a:p>
            <a:pPr marL="0" indent="0">
              <a:buNone/>
            </a:pPr>
            <a:r>
              <a:rPr lang="en-US" sz="770" b="1" dirty="0">
                <a:solidFill>
                  <a:srgbClr val="9AA4B2"/>
                </a:solidFill>
              </a:rPr>
              <a:t>CALCULATED METRICS</a:t>
            </a:r>
            <a:endParaRPr lang="en-US" sz="770" dirty="0"/>
          </a:p>
        </p:txBody>
      </p:sp>
      <p:sp>
        <p:nvSpPr>
          <p:cNvPr id="32" name="Text 30"/>
          <p:cNvSpPr/>
          <p:nvPr/>
        </p:nvSpPr>
        <p:spPr>
          <a:xfrm>
            <a:off x="4617720" y="5330952"/>
            <a:ext cx="2286000" cy="411480"/>
          </a:xfrm>
          <a:prstGeom prst="rect">
            <a:avLst/>
          </a:prstGeom>
          <a:noFill/>
          <a:ln/>
        </p:spPr>
        <p:txBody>
          <a:bodyPr wrap="square" lIns="0" tIns="0" rIns="0" bIns="0" rtlCol="0" anchor="ctr"/>
          <a:lstStyle/>
          <a:p>
            <a:pPr marL="0" indent="0">
              <a:buNone/>
            </a:pPr>
            <a:r>
              <a:rPr lang="en-US" sz="1900" b="1" dirty="0">
                <a:solidFill>
                  <a:srgbClr val="00E676"/>
                </a:solidFill>
              </a:rPr>
              <a:t>Volatility + Liquidity</a:t>
            </a:r>
            <a:endParaRPr lang="en-US" sz="1900" dirty="0"/>
          </a:p>
        </p:txBody>
      </p:sp>
      <p:sp>
        <p:nvSpPr>
          <p:cNvPr id="33" name="Text 31"/>
          <p:cNvSpPr/>
          <p:nvPr/>
        </p:nvSpPr>
        <p:spPr>
          <a:xfrm>
            <a:off x="4617720" y="5797296"/>
            <a:ext cx="2286000" cy="201168"/>
          </a:xfrm>
          <a:prstGeom prst="rect">
            <a:avLst/>
          </a:prstGeom>
          <a:noFill/>
          <a:ln/>
        </p:spPr>
        <p:txBody>
          <a:bodyPr wrap="square" lIns="0" tIns="0" rIns="0" bIns="0" rtlCol="0" anchor="ctr"/>
          <a:lstStyle/>
          <a:p>
            <a:pPr marL="0" indent="0">
              <a:buNone/>
            </a:pPr>
            <a:r>
              <a:rPr lang="en-US" sz="750" dirty="0">
                <a:solidFill>
                  <a:srgbClr val="C9D1D9"/>
                </a:solidFill>
              </a:rPr>
              <a:t>Business-ready fields</a:t>
            </a:r>
            <a:endParaRPr lang="en-US" sz="750" dirty="0"/>
          </a:p>
        </p:txBody>
      </p:sp>
      <p:sp>
        <p:nvSpPr>
          <p:cNvPr id="34" name="Text 32"/>
          <p:cNvSpPr/>
          <p:nvPr/>
        </p:nvSpPr>
        <p:spPr>
          <a:xfrm>
            <a:off x="7452360" y="5020056"/>
            <a:ext cx="2331720" cy="246888"/>
          </a:xfrm>
          <a:prstGeom prst="rect">
            <a:avLst/>
          </a:prstGeom>
          <a:noFill/>
          <a:ln/>
        </p:spPr>
        <p:txBody>
          <a:bodyPr wrap="square" lIns="0" tIns="0" rIns="0" bIns="0" rtlCol="0" anchor="ctr"/>
          <a:lstStyle/>
          <a:p>
            <a:pPr marL="0" indent="0">
              <a:buNone/>
            </a:pPr>
            <a:r>
              <a:rPr lang="en-US" sz="770" b="1" dirty="0">
                <a:solidFill>
                  <a:srgbClr val="9AA4B2"/>
                </a:solidFill>
              </a:rPr>
              <a:t>AUTOMATION</a:t>
            </a:r>
            <a:endParaRPr lang="en-US" sz="770" dirty="0"/>
          </a:p>
        </p:txBody>
      </p:sp>
      <p:sp>
        <p:nvSpPr>
          <p:cNvPr id="35" name="Text 33"/>
          <p:cNvSpPr/>
          <p:nvPr/>
        </p:nvSpPr>
        <p:spPr>
          <a:xfrm>
            <a:off x="7452360" y="5330952"/>
            <a:ext cx="2331720" cy="411480"/>
          </a:xfrm>
          <a:prstGeom prst="rect">
            <a:avLst/>
          </a:prstGeom>
          <a:noFill/>
          <a:ln/>
        </p:spPr>
        <p:txBody>
          <a:bodyPr wrap="square" lIns="0" tIns="0" rIns="0" bIns="0" rtlCol="0" anchor="ctr"/>
          <a:lstStyle/>
          <a:p>
            <a:pPr marL="0" indent="0">
              <a:buNone/>
            </a:pPr>
            <a:r>
              <a:rPr lang="en-US" sz="1900" b="1" dirty="0">
                <a:solidFill>
                  <a:srgbClr val="D946EF"/>
                </a:solidFill>
              </a:rPr>
              <a:t>Task Scheduler / Cron</a:t>
            </a:r>
            <a:endParaRPr lang="en-US" sz="1900" dirty="0"/>
          </a:p>
        </p:txBody>
      </p:sp>
      <p:sp>
        <p:nvSpPr>
          <p:cNvPr id="36" name="Text 34"/>
          <p:cNvSpPr/>
          <p:nvPr/>
        </p:nvSpPr>
        <p:spPr>
          <a:xfrm>
            <a:off x="7452360" y="5797296"/>
            <a:ext cx="2331720" cy="201168"/>
          </a:xfrm>
          <a:prstGeom prst="rect">
            <a:avLst/>
          </a:prstGeom>
          <a:noFill/>
          <a:ln/>
        </p:spPr>
        <p:txBody>
          <a:bodyPr wrap="square" lIns="0" tIns="0" rIns="0" bIns="0" rtlCol="0" anchor="ctr"/>
          <a:lstStyle/>
          <a:p>
            <a:pPr marL="0" indent="0">
              <a:buNone/>
            </a:pPr>
            <a:r>
              <a:rPr lang="en-US" sz="750" dirty="0">
                <a:solidFill>
                  <a:srgbClr val="C9D1D9"/>
                </a:solidFill>
              </a:rPr>
              <a:t>Repeatable ETL job</a:t>
            </a:r>
            <a:endParaRPr lang="en-US" sz="750" dirty="0"/>
          </a:p>
        </p:txBody>
      </p:sp>
      <p:sp>
        <p:nvSpPr>
          <p:cNvPr id="37" name="Shape 35"/>
          <p:cNvSpPr/>
          <p:nvPr/>
        </p:nvSpPr>
        <p:spPr>
          <a:xfrm>
            <a:off x="10533888" y="2487168"/>
            <a:ext cx="1060704" cy="3273552"/>
          </a:xfrm>
          <a:prstGeom prst="roundRect">
            <a:avLst>
              <a:gd name="adj" fmla="val 10345"/>
            </a:avLst>
          </a:prstGeom>
          <a:solidFill>
            <a:srgbClr val="141922"/>
          </a:solidFill>
          <a:ln w="12700">
            <a:solidFill>
              <a:srgbClr val="2B3342">
                <a:alpha val="90000"/>
              </a:srgbClr>
            </a:solidFill>
            <a:prstDash val="solid"/>
          </a:ln>
        </p:spPr>
      </p:sp>
      <p:sp>
        <p:nvSpPr>
          <p:cNvPr id="38" name="Text 36"/>
          <p:cNvSpPr/>
          <p:nvPr/>
        </p:nvSpPr>
        <p:spPr>
          <a:xfrm>
            <a:off x="10652760" y="2788920"/>
            <a:ext cx="822960" cy="502920"/>
          </a:xfrm>
          <a:prstGeom prst="rect">
            <a:avLst/>
          </a:prstGeom>
          <a:noFill/>
          <a:ln/>
        </p:spPr>
        <p:txBody>
          <a:bodyPr wrap="square" lIns="0" tIns="0" rIns="0" bIns="0" rtlCol="0" anchor="ctr"/>
          <a:lstStyle/>
          <a:p>
            <a:pPr marL="0" indent="0" algn="ctr">
              <a:buNone/>
            </a:pPr>
            <a:r>
              <a:rPr lang="en-US" sz="1300" b="1" dirty="0">
                <a:solidFill>
                  <a:srgbClr val="FF174D"/>
                </a:solidFill>
              </a:rPr>
              <a:t>NO</a:t>
            </a:r>
            <a:endParaRPr lang="en-US" sz="1300" dirty="0"/>
          </a:p>
          <a:p>
            <a:pPr marL="0" indent="0" algn="ctr">
              <a:buNone/>
            </a:pPr>
            <a:r>
              <a:rPr lang="en-US" sz="1300" b="1" dirty="0">
                <a:solidFill>
                  <a:srgbClr val="FF174D"/>
                </a:solidFill>
              </a:rPr>
              <a:t>SQLite</a:t>
            </a:r>
            <a:endParaRPr lang="en-US" sz="1300" dirty="0"/>
          </a:p>
        </p:txBody>
      </p:sp>
      <p:sp>
        <p:nvSpPr>
          <p:cNvPr id="39" name="Text 37"/>
          <p:cNvSpPr/>
          <p:nvPr/>
        </p:nvSpPr>
        <p:spPr>
          <a:xfrm>
            <a:off x="10643616" y="3657600"/>
            <a:ext cx="841248" cy="914400"/>
          </a:xfrm>
          <a:prstGeom prst="rect">
            <a:avLst/>
          </a:prstGeom>
          <a:noFill/>
          <a:ln/>
        </p:spPr>
        <p:txBody>
          <a:bodyPr wrap="square" lIns="0" tIns="0" rIns="0" bIns="0" rtlCol="0" anchor="ctr"/>
          <a:lstStyle/>
          <a:p>
            <a:pPr marL="0" indent="0" algn="ctr">
              <a:buNone/>
            </a:pPr>
            <a:r>
              <a:rPr lang="en-US" sz="820" dirty="0">
                <a:solidFill>
                  <a:srgbClr val="C9D1D9"/>
                </a:solidFill>
              </a:rPr>
              <a:t>Real database</a:t>
            </a:r>
            <a:endParaRPr lang="en-US" sz="820" dirty="0"/>
          </a:p>
          <a:p>
            <a:pPr marL="0" indent="0" algn="ctr">
              <a:buNone/>
            </a:pPr>
            <a:r>
              <a:rPr lang="en-US" sz="820" dirty="0">
                <a:solidFill>
                  <a:srgbClr val="C9D1D9"/>
                </a:solidFill>
              </a:rPr>
              <a:t>used for the</a:t>
            </a:r>
            <a:endParaRPr lang="en-US" sz="820" dirty="0"/>
          </a:p>
          <a:p>
            <a:pPr marL="0" indent="0" algn="ctr">
              <a:buNone/>
            </a:pPr>
            <a:r>
              <a:rPr lang="en-US" sz="820" dirty="0">
                <a:solidFill>
                  <a:srgbClr val="C9D1D9"/>
                </a:solidFill>
              </a:rPr>
              <a:t>final project</a:t>
            </a:r>
            <a:endParaRPr lang="en-US" sz="820" dirty="0"/>
          </a:p>
        </p:txBody>
      </p:sp>
      <p:sp>
        <p:nvSpPr>
          <p:cNvPr id="40" name="Text 38"/>
          <p:cNvSpPr/>
          <p:nvPr/>
        </p:nvSpPr>
        <p:spPr>
          <a:xfrm>
            <a:off x="10625328" y="4892040"/>
            <a:ext cx="877824" cy="566928"/>
          </a:xfrm>
          <a:prstGeom prst="rect">
            <a:avLst/>
          </a:prstGeom>
          <a:noFill/>
          <a:ln/>
        </p:spPr>
        <p:txBody>
          <a:bodyPr wrap="square" lIns="0" tIns="0" rIns="0" bIns="0" rtlCol="0" anchor="ctr"/>
          <a:lstStyle/>
          <a:p>
            <a:pPr marL="0" indent="0" algn="ctr">
              <a:buNone/>
            </a:pPr>
            <a:r>
              <a:rPr lang="en-US" sz="770" dirty="0">
                <a:solidFill>
                  <a:srgbClr val="FFD400"/>
                </a:solidFill>
              </a:rPr>
              <a:t>ETL logs support</a:t>
            </a:r>
            <a:endParaRPr lang="en-US" sz="770" dirty="0"/>
          </a:p>
          <a:p>
            <a:pPr marL="0" indent="0" algn="ctr">
              <a:buNone/>
            </a:pPr>
            <a:r>
              <a:rPr lang="en-US" sz="770" dirty="0">
                <a:solidFill>
                  <a:srgbClr val="FFD400"/>
                </a:solidFill>
              </a:rPr>
              <a:t>live demo proof</a:t>
            </a:r>
            <a:endParaRPr lang="en-US" sz="770" dirty="0"/>
          </a:p>
        </p:txBody>
      </p:sp>
      <p:sp>
        <p:nvSpPr>
          <p:cNvPr id="41" name="Slide Number Placeholder 0"/>
          <p:cNvSpPr>
            <a:spLocks noGrp="1"/>
          </p:cNvSpPr>
          <p:nvPr>
            <p:ph type="sldNum" sz="quarter" idx="4294967295"/>
          </p:nvPr>
        </p:nvSpPr>
        <p:spPr>
          <a:xfrm>
            <a:off x="1179576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7D8590"/>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94360" y="384048"/>
            <a:ext cx="4297680" cy="228600"/>
          </a:xfrm>
          <a:prstGeom prst="rect">
            <a:avLst/>
          </a:prstGeom>
          <a:noFill/>
          <a:ln/>
        </p:spPr>
        <p:txBody>
          <a:bodyPr wrap="square" lIns="0" tIns="0" rIns="0" bIns="0" rtlCol="0" anchor="ctr"/>
          <a:lstStyle/>
          <a:p>
            <a:pPr marL="0" indent="0">
              <a:buNone/>
            </a:pPr>
            <a:r>
              <a:rPr lang="en-US" sz="900" b="1" dirty="0">
                <a:solidFill>
                  <a:srgbClr val="FFD400"/>
                </a:solidFill>
                <a:latin typeface="Aptos" pitchFamily="34" charset="0"/>
                <a:ea typeface="Aptos" pitchFamily="34" charset="-122"/>
                <a:cs typeface="Aptos" pitchFamily="34" charset="-120"/>
              </a:rPr>
              <a:t>BI DASHBOARD &amp; INSIGHTS</a:t>
            </a:r>
            <a:endParaRPr lang="en-US" sz="900" dirty="0"/>
          </a:p>
        </p:txBody>
      </p:sp>
      <p:sp>
        <p:nvSpPr>
          <p:cNvPr id="3" name="Text 1"/>
          <p:cNvSpPr/>
          <p:nvPr/>
        </p:nvSpPr>
        <p:spPr>
          <a:xfrm>
            <a:off x="566928" y="676656"/>
            <a:ext cx="7040880" cy="685800"/>
          </a:xfrm>
          <a:prstGeom prst="rect">
            <a:avLst/>
          </a:prstGeom>
          <a:noFill/>
          <a:ln/>
        </p:spPr>
        <p:txBody>
          <a:bodyPr wrap="square" lIns="0" tIns="0" rIns="0" bIns="0" rtlCol="0" anchor="ctr"/>
          <a:lstStyle/>
          <a:p>
            <a:pPr marL="0" indent="0">
              <a:buNone/>
            </a:pPr>
            <a:r>
              <a:rPr lang="en-US" sz="3000" b="1" dirty="0">
                <a:solidFill>
                  <a:srgbClr val="F8FAFC"/>
                </a:solidFill>
                <a:latin typeface="Aptos Display" pitchFamily="34" charset="0"/>
                <a:ea typeface="Aptos Display" pitchFamily="34" charset="-122"/>
                <a:cs typeface="Aptos Display" pitchFamily="34" charset="-120"/>
              </a:rPr>
              <a:t>What the pipeline reveals</a:t>
            </a:r>
            <a:endParaRPr lang="en-US" sz="3000" dirty="0"/>
          </a:p>
        </p:txBody>
      </p:sp>
      <p:sp>
        <p:nvSpPr>
          <p:cNvPr id="4" name="Text 2"/>
          <p:cNvSpPr/>
          <p:nvPr/>
        </p:nvSpPr>
        <p:spPr>
          <a:xfrm>
            <a:off x="603504" y="1481328"/>
            <a:ext cx="8412480" cy="320040"/>
          </a:xfrm>
          <a:prstGeom prst="rect">
            <a:avLst/>
          </a:prstGeom>
          <a:noFill/>
          <a:ln/>
        </p:spPr>
        <p:txBody>
          <a:bodyPr wrap="square" lIns="0" tIns="0" rIns="0" bIns="0" rtlCol="0" anchor="ctr"/>
          <a:lstStyle/>
          <a:p>
            <a:pPr marL="0" indent="0">
              <a:buNone/>
            </a:pPr>
            <a:r>
              <a:rPr lang="en-US" sz="1250" dirty="0">
                <a:solidFill>
                  <a:srgbClr val="C9D1D9"/>
                </a:solidFill>
                <a:latin typeface="Aptos" pitchFamily="34" charset="0"/>
                <a:ea typeface="Aptos" pitchFamily="34" charset="-122"/>
                <a:cs typeface="Aptos" pitchFamily="34" charset="-120"/>
              </a:rPr>
              <a:t>Dashboard visuals convert market snapshots into explainable business intelligence.</a:t>
            </a:r>
            <a:endParaRPr lang="en-US" sz="1250" dirty="0"/>
          </a:p>
        </p:txBody>
      </p:sp>
      <p:sp>
        <p:nvSpPr>
          <p:cNvPr id="5" name="Shape 3"/>
          <p:cNvSpPr/>
          <p:nvPr/>
        </p:nvSpPr>
        <p:spPr>
          <a:xfrm>
            <a:off x="594360" y="1920240"/>
            <a:ext cx="11009376" cy="713232"/>
          </a:xfrm>
          <a:prstGeom prst="roundRect">
            <a:avLst>
              <a:gd name="adj" fmla="val 15385"/>
            </a:avLst>
          </a:prstGeom>
          <a:solidFill>
            <a:srgbClr val="141922"/>
          </a:solidFill>
          <a:ln w="12700">
            <a:solidFill>
              <a:srgbClr val="2B3342">
                <a:alpha val="90000"/>
              </a:srgbClr>
            </a:solidFill>
            <a:prstDash val="solid"/>
          </a:ln>
        </p:spPr>
        <p:txBody>
          <a:bodyPr/>
          <a:lstStyle/>
          <a:p>
            <a:endParaRPr lang="en-GB" dirty="0"/>
          </a:p>
        </p:txBody>
      </p:sp>
      <p:sp>
        <p:nvSpPr>
          <p:cNvPr id="6" name="Text 4"/>
          <p:cNvSpPr/>
          <p:nvPr/>
        </p:nvSpPr>
        <p:spPr>
          <a:xfrm>
            <a:off x="822960" y="2112264"/>
            <a:ext cx="2331720" cy="201168"/>
          </a:xfrm>
          <a:prstGeom prst="rect">
            <a:avLst/>
          </a:prstGeom>
          <a:noFill/>
          <a:ln/>
        </p:spPr>
        <p:txBody>
          <a:bodyPr wrap="square" lIns="0" tIns="0" rIns="0" bIns="0" rtlCol="0" anchor="ctr"/>
          <a:lstStyle/>
          <a:p>
            <a:pPr marL="0" indent="0">
              <a:buNone/>
            </a:pPr>
            <a:r>
              <a:rPr lang="en-US" sz="1050" b="1" dirty="0">
                <a:solidFill>
                  <a:srgbClr val="F8FAFC"/>
                </a:solidFill>
              </a:rPr>
              <a:t>Key results from the dashboard</a:t>
            </a:r>
            <a:endParaRPr lang="en-US" sz="1050" dirty="0"/>
          </a:p>
        </p:txBody>
      </p:sp>
      <p:sp>
        <p:nvSpPr>
          <p:cNvPr id="7" name="Text 5"/>
          <p:cNvSpPr/>
          <p:nvPr/>
        </p:nvSpPr>
        <p:spPr>
          <a:xfrm>
            <a:off x="3337560" y="2112264"/>
            <a:ext cx="1920240" cy="201168"/>
          </a:xfrm>
          <a:prstGeom prst="rect">
            <a:avLst/>
          </a:prstGeom>
          <a:noFill/>
          <a:ln/>
        </p:spPr>
        <p:txBody>
          <a:bodyPr wrap="square" lIns="0" tIns="0" rIns="0" bIns="0" rtlCol="0" anchor="ctr"/>
          <a:lstStyle/>
          <a:p>
            <a:pPr marL="0" indent="0">
              <a:buNone/>
            </a:pPr>
            <a:r>
              <a:rPr lang="en-US" sz="1000" b="1" dirty="0">
                <a:solidFill>
                  <a:srgbClr val="00E676"/>
                </a:solidFill>
              </a:rPr>
              <a:t>BDX +16.96% top gainer</a:t>
            </a:r>
            <a:endParaRPr lang="en-US" sz="1000" dirty="0"/>
          </a:p>
        </p:txBody>
      </p:sp>
      <p:sp>
        <p:nvSpPr>
          <p:cNvPr id="8" name="Text 6"/>
          <p:cNvSpPr/>
          <p:nvPr/>
        </p:nvSpPr>
        <p:spPr>
          <a:xfrm>
            <a:off x="5440680" y="2112264"/>
            <a:ext cx="1920240" cy="201168"/>
          </a:xfrm>
          <a:prstGeom prst="rect">
            <a:avLst/>
          </a:prstGeom>
          <a:noFill/>
          <a:ln/>
        </p:spPr>
        <p:txBody>
          <a:bodyPr wrap="square" lIns="0" tIns="0" rIns="0" bIns="0" rtlCol="0" anchor="ctr"/>
          <a:lstStyle/>
          <a:p>
            <a:pPr marL="0" indent="0">
              <a:buNone/>
            </a:pPr>
            <a:r>
              <a:rPr lang="en-US" sz="1000" b="1" dirty="0">
                <a:solidFill>
                  <a:srgbClr val="FF174D"/>
                </a:solidFill>
              </a:rPr>
              <a:t>DEXE -18.58% top loser</a:t>
            </a:r>
            <a:endParaRPr lang="en-US" sz="1000" dirty="0"/>
          </a:p>
        </p:txBody>
      </p:sp>
      <p:sp>
        <p:nvSpPr>
          <p:cNvPr id="9" name="Text 7"/>
          <p:cNvSpPr/>
          <p:nvPr/>
        </p:nvSpPr>
        <p:spPr>
          <a:xfrm>
            <a:off x="7543800" y="2112264"/>
            <a:ext cx="2240280" cy="201168"/>
          </a:xfrm>
          <a:prstGeom prst="rect">
            <a:avLst/>
          </a:prstGeom>
          <a:noFill/>
          <a:ln/>
        </p:spPr>
        <p:txBody>
          <a:bodyPr wrap="square" lIns="0" tIns="0" rIns="0" bIns="0" rtlCol="0" anchor="ctr"/>
          <a:lstStyle/>
          <a:p>
            <a:pPr marL="0" indent="0">
              <a:buNone/>
            </a:pPr>
            <a:r>
              <a:rPr lang="en-US" sz="1000" b="1" dirty="0">
                <a:solidFill>
                  <a:srgbClr val="FFD400"/>
                </a:solidFill>
              </a:rPr>
              <a:t>Mid Cap = 54% of selected category</a:t>
            </a:r>
            <a:endParaRPr lang="en-US" sz="1000" dirty="0"/>
          </a:p>
        </p:txBody>
      </p:sp>
      <p:sp>
        <p:nvSpPr>
          <p:cNvPr id="10" name="Text 8"/>
          <p:cNvSpPr/>
          <p:nvPr/>
        </p:nvSpPr>
        <p:spPr>
          <a:xfrm>
            <a:off x="9985248" y="2112264"/>
            <a:ext cx="1325880" cy="201168"/>
          </a:xfrm>
          <a:prstGeom prst="rect">
            <a:avLst/>
          </a:prstGeom>
          <a:noFill/>
          <a:ln/>
        </p:spPr>
        <p:txBody>
          <a:bodyPr wrap="square" lIns="0" tIns="0" rIns="0" bIns="0" rtlCol="0" anchor="ctr"/>
          <a:lstStyle/>
          <a:p>
            <a:pPr marL="0" indent="0">
              <a:buNone/>
            </a:pPr>
            <a:r>
              <a:rPr lang="en-US" sz="1000" b="1" dirty="0">
                <a:solidFill>
                  <a:srgbClr val="17B5E5"/>
                </a:solidFill>
              </a:rPr>
              <a:t>ML accuracy: 86.7%</a:t>
            </a:r>
            <a:endParaRPr lang="en-US" sz="1000" dirty="0"/>
          </a:p>
        </p:txBody>
      </p:sp>
      <p:sp>
        <p:nvSpPr>
          <p:cNvPr id="11" name="Shape 9"/>
          <p:cNvSpPr/>
          <p:nvPr/>
        </p:nvSpPr>
        <p:spPr>
          <a:xfrm>
            <a:off x="594360" y="2852928"/>
            <a:ext cx="3703320" cy="1691640"/>
          </a:xfrm>
          <a:prstGeom prst="roundRect">
            <a:avLst>
              <a:gd name="adj" fmla="val 6486"/>
            </a:avLst>
          </a:prstGeom>
          <a:solidFill>
            <a:srgbClr val="141922"/>
          </a:solidFill>
          <a:ln w="12700">
            <a:solidFill>
              <a:srgbClr val="2B3342">
                <a:alpha val="90000"/>
              </a:srgbClr>
            </a:solidFill>
            <a:prstDash val="solid"/>
          </a:ln>
        </p:spPr>
      </p:sp>
      <p:sp>
        <p:nvSpPr>
          <p:cNvPr id="13" name="Text 10"/>
          <p:cNvSpPr/>
          <p:nvPr/>
        </p:nvSpPr>
        <p:spPr>
          <a:xfrm>
            <a:off x="704088" y="4361688"/>
            <a:ext cx="3483864" cy="137160"/>
          </a:xfrm>
          <a:prstGeom prst="rect">
            <a:avLst/>
          </a:prstGeom>
          <a:noFill/>
          <a:ln/>
        </p:spPr>
        <p:txBody>
          <a:bodyPr wrap="square" lIns="0" tIns="0" rIns="0" bIns="0" rtlCol="0" anchor="ctr"/>
          <a:lstStyle/>
          <a:p>
            <a:pPr marL="0" indent="0" algn="r">
              <a:buNone/>
            </a:pPr>
            <a:r>
              <a:rPr lang="en-US" sz="750" dirty="0">
                <a:solidFill>
                  <a:srgbClr val="9AA4B2"/>
                </a:solidFill>
              </a:rPr>
              <a:t>Top performers and losers</a:t>
            </a:r>
            <a:endParaRPr lang="en-US" sz="750" dirty="0"/>
          </a:p>
        </p:txBody>
      </p:sp>
      <p:sp>
        <p:nvSpPr>
          <p:cNvPr id="14" name="Shape 11"/>
          <p:cNvSpPr/>
          <p:nvPr/>
        </p:nvSpPr>
        <p:spPr>
          <a:xfrm>
            <a:off x="4498848" y="2852928"/>
            <a:ext cx="3703320" cy="1691640"/>
          </a:xfrm>
          <a:prstGeom prst="roundRect">
            <a:avLst>
              <a:gd name="adj" fmla="val 6486"/>
            </a:avLst>
          </a:prstGeom>
          <a:solidFill>
            <a:srgbClr val="141922"/>
          </a:solidFill>
          <a:ln w="12700">
            <a:solidFill>
              <a:srgbClr val="2B3342">
                <a:alpha val="90000"/>
              </a:srgbClr>
            </a:solidFill>
            <a:prstDash val="solid"/>
          </a:ln>
        </p:spPr>
      </p:sp>
      <p:sp>
        <p:nvSpPr>
          <p:cNvPr id="16" name="Text 12"/>
          <p:cNvSpPr/>
          <p:nvPr/>
        </p:nvSpPr>
        <p:spPr>
          <a:xfrm>
            <a:off x="4608576" y="4361688"/>
            <a:ext cx="3483864" cy="137160"/>
          </a:xfrm>
          <a:prstGeom prst="rect">
            <a:avLst/>
          </a:prstGeom>
          <a:noFill/>
          <a:ln/>
        </p:spPr>
        <p:txBody>
          <a:bodyPr wrap="square" lIns="0" tIns="0" rIns="0" bIns="0" rtlCol="0" anchor="ctr"/>
          <a:lstStyle/>
          <a:p>
            <a:pPr marL="0" indent="0" algn="r">
              <a:buNone/>
            </a:pPr>
            <a:r>
              <a:rPr lang="en-US" sz="750" dirty="0">
                <a:solidFill>
                  <a:srgbClr val="9AA4B2"/>
                </a:solidFill>
              </a:rPr>
              <a:t>Volatility vs. liquidity</a:t>
            </a:r>
            <a:endParaRPr lang="en-US" sz="750" dirty="0"/>
          </a:p>
        </p:txBody>
      </p:sp>
      <p:sp>
        <p:nvSpPr>
          <p:cNvPr id="17" name="Shape 13"/>
          <p:cNvSpPr/>
          <p:nvPr/>
        </p:nvSpPr>
        <p:spPr>
          <a:xfrm>
            <a:off x="8394192" y="2852928"/>
            <a:ext cx="3200400" cy="1691640"/>
          </a:xfrm>
          <a:prstGeom prst="roundRect">
            <a:avLst>
              <a:gd name="adj" fmla="val 6486"/>
            </a:avLst>
          </a:prstGeom>
          <a:solidFill>
            <a:srgbClr val="141922"/>
          </a:solidFill>
          <a:ln w="12700">
            <a:solidFill>
              <a:srgbClr val="2B3342">
                <a:alpha val="90000"/>
              </a:srgbClr>
            </a:solidFill>
            <a:prstDash val="solid"/>
          </a:ln>
        </p:spPr>
      </p:sp>
      <p:sp>
        <p:nvSpPr>
          <p:cNvPr id="19" name="Text 14"/>
          <p:cNvSpPr/>
          <p:nvPr/>
        </p:nvSpPr>
        <p:spPr>
          <a:xfrm>
            <a:off x="8503920" y="4361688"/>
            <a:ext cx="2980944" cy="137160"/>
          </a:xfrm>
          <a:prstGeom prst="rect">
            <a:avLst/>
          </a:prstGeom>
          <a:noFill/>
          <a:ln/>
        </p:spPr>
        <p:txBody>
          <a:bodyPr wrap="square" lIns="0" tIns="0" rIns="0" bIns="0" rtlCol="0" anchor="ctr"/>
          <a:lstStyle/>
          <a:p>
            <a:pPr marL="0" indent="0" algn="r">
              <a:buNone/>
            </a:pPr>
            <a:r>
              <a:rPr lang="en-US" sz="750" dirty="0">
                <a:solidFill>
                  <a:srgbClr val="9AA4B2"/>
                </a:solidFill>
              </a:rPr>
              <a:t>Market-cap category share</a:t>
            </a:r>
            <a:endParaRPr lang="en-US" sz="750" dirty="0"/>
          </a:p>
        </p:txBody>
      </p:sp>
      <p:sp>
        <p:nvSpPr>
          <p:cNvPr id="20" name="Shape 15"/>
          <p:cNvSpPr/>
          <p:nvPr/>
        </p:nvSpPr>
        <p:spPr>
          <a:xfrm>
            <a:off x="594360" y="4864608"/>
            <a:ext cx="3703320" cy="1444752"/>
          </a:xfrm>
          <a:prstGeom prst="roundRect">
            <a:avLst>
              <a:gd name="adj" fmla="val 9836"/>
            </a:avLst>
          </a:prstGeom>
          <a:solidFill>
            <a:srgbClr val="141922"/>
          </a:solidFill>
          <a:ln w="12700">
            <a:solidFill>
              <a:srgbClr val="2B3342">
                <a:alpha val="90000"/>
              </a:srgbClr>
            </a:solidFill>
            <a:prstDash val="solid"/>
          </a:ln>
        </p:spPr>
      </p:sp>
      <p:sp>
        <p:nvSpPr>
          <p:cNvPr id="22" name="Text 16"/>
          <p:cNvSpPr/>
          <p:nvPr/>
        </p:nvSpPr>
        <p:spPr>
          <a:xfrm>
            <a:off x="693929" y="6050280"/>
            <a:ext cx="3483864" cy="137160"/>
          </a:xfrm>
          <a:prstGeom prst="rect">
            <a:avLst/>
          </a:prstGeom>
          <a:noFill/>
          <a:ln/>
        </p:spPr>
        <p:txBody>
          <a:bodyPr wrap="square" lIns="0" tIns="0" rIns="0" bIns="0" rtlCol="0" anchor="ctr"/>
          <a:lstStyle/>
          <a:p>
            <a:pPr marL="0" indent="0" algn="r">
              <a:buNone/>
            </a:pPr>
            <a:r>
              <a:rPr lang="en-US" sz="750" dirty="0">
                <a:solidFill>
                  <a:srgbClr val="9AA4B2"/>
                </a:solidFill>
              </a:rPr>
              <a:t>Feature importance</a:t>
            </a:r>
            <a:endParaRPr lang="en-US" sz="750" dirty="0"/>
          </a:p>
        </p:txBody>
      </p:sp>
      <p:sp>
        <p:nvSpPr>
          <p:cNvPr id="23" name="Shape 17"/>
          <p:cNvSpPr/>
          <p:nvPr/>
        </p:nvSpPr>
        <p:spPr>
          <a:xfrm>
            <a:off x="4498848" y="4864608"/>
            <a:ext cx="7095744" cy="1444752"/>
          </a:xfrm>
          <a:prstGeom prst="roundRect">
            <a:avLst>
              <a:gd name="adj" fmla="val 9836"/>
            </a:avLst>
          </a:prstGeom>
          <a:solidFill>
            <a:srgbClr val="141922"/>
          </a:solidFill>
          <a:ln w="12700">
            <a:solidFill>
              <a:srgbClr val="2B3342">
                <a:alpha val="90000"/>
              </a:srgbClr>
            </a:solidFill>
            <a:prstDash val="solid"/>
          </a:ln>
        </p:spPr>
      </p:sp>
      <p:sp>
        <p:nvSpPr>
          <p:cNvPr id="24" name="Text 18"/>
          <p:cNvSpPr/>
          <p:nvPr/>
        </p:nvSpPr>
        <p:spPr>
          <a:xfrm>
            <a:off x="4727448" y="4965192"/>
            <a:ext cx="2286000" cy="201168"/>
          </a:xfrm>
          <a:prstGeom prst="rect">
            <a:avLst/>
          </a:prstGeom>
          <a:noFill/>
          <a:ln/>
        </p:spPr>
        <p:txBody>
          <a:bodyPr wrap="square" lIns="0" tIns="0" rIns="0" bIns="0" rtlCol="0" anchor="ctr"/>
          <a:lstStyle/>
          <a:p>
            <a:pPr marL="0" indent="0">
              <a:buNone/>
            </a:pPr>
            <a:r>
              <a:rPr lang="en-US" sz="1150" b="1" dirty="0">
                <a:solidFill>
                  <a:srgbClr val="F8FAFC"/>
                </a:solidFill>
              </a:rPr>
              <a:t>Presentation insight story</a:t>
            </a:r>
            <a:endParaRPr lang="en-US" sz="1150" dirty="0"/>
          </a:p>
        </p:txBody>
      </p:sp>
      <p:sp>
        <p:nvSpPr>
          <p:cNvPr id="25" name="Text 19"/>
          <p:cNvSpPr/>
          <p:nvPr/>
        </p:nvSpPr>
        <p:spPr>
          <a:xfrm>
            <a:off x="4727448" y="5281168"/>
            <a:ext cx="6400800" cy="900176"/>
          </a:xfrm>
          <a:prstGeom prst="rect">
            <a:avLst/>
          </a:prstGeom>
          <a:noFill/>
          <a:ln/>
        </p:spPr>
        <p:txBody>
          <a:bodyPr wrap="square" lIns="254" tIns="254" rIns="254" bIns="254" rtlCol="0" anchor="ctr">
            <a:normAutofit/>
          </a:bodyPr>
          <a:lstStyle/>
          <a:p>
            <a:pPr marL="0" indent="0">
              <a:buNone/>
            </a:pPr>
            <a:r>
              <a:rPr lang="en-US" sz="1100" dirty="0">
                <a:solidFill>
                  <a:srgbClr val="C9D1D9"/>
                </a:solidFill>
              </a:rPr>
              <a:t>The dashboard starts with KPI cards, then moves to comparative charts: gainers/losers, volatility outliers, liquidity concentration, and ML drivers. Volatility is the strongest model signal, so the dashboard links descriptive BI with a simple predictive layer.</a:t>
            </a:r>
            <a:endParaRPr lang="en-US" sz="1100" dirty="0"/>
          </a:p>
        </p:txBody>
      </p:sp>
      <p:sp>
        <p:nvSpPr>
          <p:cNvPr id="26" name="Slide Number Placeholder 0"/>
          <p:cNvSpPr>
            <a:spLocks noGrp="1"/>
          </p:cNvSpPr>
          <p:nvPr>
            <p:ph type="sldNum" sz="quarter" idx="4294967295"/>
          </p:nvPr>
        </p:nvSpPr>
        <p:spPr>
          <a:xfrm>
            <a:off x="11795760" y="6446520"/>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7D8590"/>
                </a:solidFill>
                <a:latin typeface="Aptos"/>
                <a:ea typeface="Aptos"/>
                <a:cs typeface="Aptos"/>
              </a:defRPr>
            </a:lvl1pPr>
          </a:lstStyle>
          <a:p>
            <a:pPr algn="l"/>
            <a:fld id="{F7021451-1387-4CA6-816F-3879F97B5CBC}" type="slidenum">
              <a:rPr lang="en-US" b="0"/>
              <a:t>4</a:t>
            </a:fld>
            <a:endParaRPr lang="en-US"/>
          </a:p>
        </p:txBody>
      </p:sp>
      <p:pic>
        <p:nvPicPr>
          <p:cNvPr id="1026" name="Picture 2" descr="0">
            <a:extLst>
              <a:ext uri="{FF2B5EF4-FFF2-40B4-BE49-F238E27FC236}">
                <a16:creationId xmlns:a16="http://schemas.microsoft.com/office/drawing/2014/main" id="{CC89010F-9811-5B70-3572-0279DA4A0B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3940" y="2942336"/>
            <a:ext cx="1546860" cy="14303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0">
            <a:extLst>
              <a:ext uri="{FF2B5EF4-FFF2-40B4-BE49-F238E27FC236}">
                <a16:creationId xmlns:a16="http://schemas.microsoft.com/office/drawing/2014/main" id="{C6E9002E-1CDB-C76D-50F1-6CC3947AEB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7725" y="2931562"/>
            <a:ext cx="2818727" cy="138440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0">
            <a:extLst>
              <a:ext uri="{FF2B5EF4-FFF2-40B4-BE49-F238E27FC236}">
                <a16:creationId xmlns:a16="http://schemas.microsoft.com/office/drawing/2014/main" id="{23DC8E6C-6BB0-FE05-D1C2-29BB13768A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089" y="2864174"/>
            <a:ext cx="2902712" cy="142943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0">
            <a:extLst>
              <a:ext uri="{FF2B5EF4-FFF2-40B4-BE49-F238E27FC236}">
                <a16:creationId xmlns:a16="http://schemas.microsoft.com/office/drawing/2014/main" id="{8DC1DDEC-CD05-9BAB-B787-79F713B23A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3594" y="5038647"/>
            <a:ext cx="1401126" cy="114269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BB949336-B879-7F4C-84E2-F62D6695E15F}"/>
              </a:ext>
            </a:extLst>
          </p:cNvPr>
          <p:cNvPicPr>
            <a:picLocks noChangeAspect="1"/>
          </p:cNvPicPr>
          <p:nvPr/>
        </p:nvPicPr>
        <p:blipFill>
          <a:blip r:embed="rId7"/>
          <a:stretch>
            <a:fillRect/>
          </a:stretch>
        </p:blipFill>
        <p:spPr>
          <a:xfrm>
            <a:off x="2354983" y="5010812"/>
            <a:ext cx="1894034" cy="893265"/>
          </a:xfrm>
          <a:prstGeom prst="rect">
            <a:avLst/>
          </a:prstGeom>
        </p:spPr>
      </p:pic>
      <p:pic>
        <p:nvPicPr>
          <p:cNvPr id="30" name="Picture 29">
            <a:extLst>
              <a:ext uri="{FF2B5EF4-FFF2-40B4-BE49-F238E27FC236}">
                <a16:creationId xmlns:a16="http://schemas.microsoft.com/office/drawing/2014/main" id="{6998F463-BC39-6624-9907-EE0EF65EADE6}"/>
              </a:ext>
            </a:extLst>
          </p:cNvPr>
          <p:cNvPicPr>
            <a:picLocks noChangeAspect="1"/>
          </p:cNvPicPr>
          <p:nvPr/>
        </p:nvPicPr>
        <p:blipFill>
          <a:blip r:embed="rId8"/>
          <a:stretch>
            <a:fillRect/>
          </a:stretch>
        </p:blipFill>
        <p:spPr>
          <a:xfrm>
            <a:off x="7666425" y="4950968"/>
            <a:ext cx="3340215" cy="4482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Cover">
    <p:bg>
      <p:bgPr>
        <a:solidFill>
          <a:srgbClr val="0D1117"/>
        </a:solidFill>
        <a:effectLst/>
      </p:bgPr>
    </p:bg>
    <p:spTree>
      <p:nvGrpSpPr>
        <p:cNvPr id="1" name=""/>
        <p:cNvGrpSpPr/>
        <p:nvPr/>
      </p:nvGrpSpPr>
      <p:grpSpPr>
        <a:xfrm>
          <a:off x="0" y="0"/>
          <a:ext cx="0" cy="0"/>
          <a:chOff x="0" y="0"/>
          <a:chExt cx="0" cy="0"/>
        </a:xfrm>
      </p:grpSpPr>
      <p:sp>
        <p:nvSpPr>
          <p:cNvPr id="2" name="AccentLeft"/>
          <p:cNvSpPr>
            <a:spLocks noGrp="1"/>
          </p:cNvSpPr>
          <p:nvPr/>
        </p:nvSpPr>
        <p:spPr>
          <a:xfrm>
            <a:off x="457200" y="914400"/>
            <a:ext cx="91440" cy="4572000"/>
          </a:xfrm>
          <a:prstGeom prst="rect">
            <a:avLst/>
          </a:prstGeom>
          <a:solidFill>
            <a:srgbClr val="F7931A"/>
          </a:solidFill>
          <a:ln>
            <a:noFill/>
          </a:ln>
        </p:spPr>
        <p:txBody>
          <a:bodyPr/>
          <a:lstStyle/>
          <a:p/>
        </p:txBody>
      </p:sp>
      <p:sp>
        <p:nvSpPr>
          <p:cNvPr id="3" name="CourseLabel"/>
          <p:cNvSpPr>
            <a:spLocks noGrp="1"/>
          </p:cNvSpPr>
          <p:nvPr/>
        </p:nvSpPr>
        <p:spPr>
          <a:xfrm>
            <a:off x="731520" y="914400"/>
            <a:ext cx="10972800" cy="457200"/>
          </a:xfrm>
          <a:prstGeom prst="rect">
            <a:avLst/>
          </a:prstGeom>
          <a:noFill/>
        </p:spPr>
        <p:txBody>
          <a:bodyPr anchor="ctr"/>
          <a:lstStyle/>
          <a:p>
            <a:pPr algn="l"/>
            <a:r>
              <a:rPr lang="en-US" sz="1400" b="0" dirty="0">
                <a:solidFill>
                  <a:srgbClr val="F7931A"/>
                </a:solidFill>
                <a:latin typeface="Calibri"/>
              </a:rPr>
              <a:t>MADSC301 — BUSINESS INTELLIGENCE  |  EU BUSINESS SCHOOL MUNICH</a:t>
            </a:r>
          </a:p>
        </p:txBody>
      </p:sp>
      <p:sp>
        <p:nvSpPr>
          <p:cNvPr id="4" name="MainTitle"/>
          <p:cNvSpPr>
            <a:spLocks noGrp="1"/>
          </p:cNvSpPr>
          <p:nvPr/>
        </p:nvSpPr>
        <p:spPr>
          <a:xfrm>
            <a:off x="731520" y="1524000"/>
            <a:ext cx="10972800" cy="914400"/>
          </a:xfrm>
          <a:prstGeom prst="rect">
            <a:avLst/>
          </a:prstGeom>
          <a:noFill/>
        </p:spPr>
        <p:txBody>
          <a:bodyPr anchor="ctr"/>
          <a:lstStyle/>
          <a:p>
            <a:pPr algn="l"/>
            <a:r>
              <a:rPr lang="en-US" sz="4000" b="1" dirty="0">
                <a:solidFill>
                  <a:srgbClr val="FFFFFF"/>
                </a:solidFill>
                <a:latin typeface="Calibri"/>
              </a:rPr>
              <a:t>Crypto Market Intelligence</a:t>
            </a:r>
          </a:p>
        </p:txBody>
      </p:sp>
      <p:sp>
        <p:nvSpPr>
          <p:cNvPr id="5" name="Subtitle"/>
          <p:cNvSpPr>
            <a:spLocks noGrp="1"/>
          </p:cNvSpPr>
          <p:nvPr/>
        </p:nvSpPr>
        <p:spPr>
          <a:xfrm>
            <a:off x="731520" y="2438400"/>
            <a:ext cx="10972800" cy="365760"/>
          </a:xfrm>
          <a:prstGeom prst="rect">
            <a:avLst/>
          </a:prstGeom>
          <a:noFill/>
        </p:spPr>
        <p:txBody>
          <a:bodyPr anchor="ctr"/>
          <a:lstStyle/>
          <a:p>
            <a:pPr algn="l"/>
            <a:r>
              <a:rPr lang="en-US" sz="1600" b="0" dirty="0">
                <a:solidFill>
                  <a:srgbClr val="8B949E"/>
                </a:solidFill>
                <a:latin typeface="Calibri"/>
              </a:rPr>
              <a:t>End-to-end ETL pipeline — CoinGecko API  ·  MySQL  ·  Streamlit  ·  Random Forest</a:t>
            </a:r>
          </a:p>
        </p:txBody>
      </p:sp>
      <p:sp>
        <p:nvSpPr>
          <p:cNvPr id="6" name="Divider"/>
          <p:cNvSpPr>
            <a:spLocks noGrp="1"/>
          </p:cNvSpPr>
          <p:nvPr/>
        </p:nvSpPr>
        <p:spPr>
          <a:xfrm>
            <a:off x="731520" y="2987040"/>
            <a:ext cx="10972800" cy="45720"/>
          </a:xfrm>
          <a:prstGeom prst="rect">
            <a:avLst/>
          </a:prstGeom>
          <a:solidFill>
            <a:srgbClr val="21262D"/>
          </a:solidFill>
          <a:ln>
            <a:noFill/>
          </a:ln>
        </p:spPr>
        <p:txBody>
          <a:bodyPr/>
          <a:lstStyle/>
          <a:p/>
        </p:txBody>
      </p:sp>
      <p:sp>
        <p:nvSpPr>
          <p:cNvPr id="7" name="Details"/>
          <p:cNvSpPr>
            <a:spLocks noGrp="1"/>
          </p:cNvSpPr>
          <p:nvPr/>
        </p:nvSpPr>
        <p:spPr>
          <a:xfrm>
            <a:off x="731520" y="3124800"/>
            <a:ext cx="10972800" cy="2133600"/>
          </a:xfrm>
          <a:prstGeom prst="rect">
            <a:avLst/>
          </a:prstGeom>
          <a:noFill/>
        </p:spPr>
        <p:txBody>
          <a:bodyPr anchor="t"/>
          <a:lstStyle/>
          <a:p>
            <a:pPr algn="l">
              <a:spcAft>
                <a:spcPts val="300"/>
              </a:spcAft>
            </a:pPr>
            <a:r>
              <a:rPr lang="en-US" sz="1300" b="1" dirty="0">
                <a:solidFill>
                  <a:srgbClr val="8B949E"/>
                </a:solidFill>
                <a:latin typeface="Calibri"/>
              </a:rPr>
              <a:t>Student</a:t>
            </a:r>
            <a:r>
              <a:rPr lang="en-US" sz="1300" b="0" dirty="0">
                <a:solidFill>
                  <a:srgbClr val="FFFFFF"/>
                </a:solidFill>
                <a:latin typeface="Calibri"/>
              </a:rPr>
              <a:t xml:space="preserve">      Saikiran Gaddam</a:t>
            </a:r>
          </a:p>
          <a:p>
            <a:pPr algn="l">
              <a:spcAft>
                <a:spcPts val="300"/>
              </a:spcAft>
            </a:pPr>
            <a:r>
              <a:rPr lang="en-US" sz="1300" b="1" dirty="0">
                <a:solidFill>
                  <a:srgbClr val="8B949E"/>
                </a:solidFill>
                <a:latin typeface="Calibri"/>
              </a:rPr>
              <a:t>Student ID</a:t>
            </a:r>
            <a:r>
              <a:rPr lang="en-US" sz="1300" b="0" dirty="0">
                <a:solidFill>
                  <a:srgbClr val="FFFFFF"/>
                </a:solidFill>
                <a:latin typeface="Calibri"/>
              </a:rPr>
              <a:t xml:space="preserve">   25060844</a:t>
            </a:r>
          </a:p>
          <a:p>
            <a:pPr algn="l">
              <a:spcAft>
                <a:spcPts val="300"/>
              </a:spcAft>
            </a:pPr>
            <a:r>
              <a:rPr lang="en-US" sz="1300" b="1" dirty="0">
                <a:solidFill>
                  <a:srgbClr val="8B949E"/>
                </a:solidFill>
                <a:latin typeface="Calibri"/>
              </a:rPr>
              <a:t>Course</a:t>
            </a:r>
            <a:r>
              <a:rPr lang="en-US" sz="1300" b="0" dirty="0">
                <a:solidFill>
                  <a:srgbClr val="FFFFFF"/>
                </a:solidFill>
                <a:latin typeface="Calibri"/>
              </a:rPr>
              <a:t xml:space="preserve">      MADSC301 — Business Intelligence</a:t>
            </a:r>
          </a:p>
          <a:p>
            <a:pPr algn="l">
              <a:spcAft>
                <a:spcPts val="300"/>
              </a:spcAft>
            </a:pPr>
            <a:r>
              <a:rPr lang="en-US" sz="1300" b="1" dirty="0">
                <a:solidFill>
                  <a:srgbClr val="8B949E"/>
                </a:solidFill>
                <a:latin typeface="Calibri"/>
              </a:rPr>
              <a:t>Lecturer</a:t>
            </a:r>
            <a:r>
              <a:rPr lang="en-US" sz="1300" b="0" dirty="0">
                <a:solidFill>
                  <a:srgbClr val="FFFFFF"/>
                </a:solidFill>
                <a:latin typeface="Calibri"/>
              </a:rPr>
              <a:t xml:space="preserve">     Hachem Sfar</a:t>
            </a:r>
          </a:p>
          <a:p>
            <a:pPr algn="l">
              <a:spcAft>
                <a:spcPts val="300"/>
              </a:spcAft>
            </a:pPr>
            <a:r>
              <a:rPr lang="en-US" sz="1300" b="1" dirty="0">
                <a:solidFill>
                  <a:srgbClr val="8B949E"/>
                </a:solidFill>
                <a:latin typeface="Calibri"/>
              </a:rPr>
              <a:t>Term</a:t>
            </a:r>
            <a:r>
              <a:rPr lang="en-US" sz="1300" b="0" dirty="0">
                <a:solidFill>
                  <a:srgbClr val="FFFFFF"/>
                </a:solidFill>
                <a:latin typeface="Calibri"/>
              </a:rPr>
              <a:t xml:space="preserve">        Term III — Academic Year 2025/26</a:t>
            </a:r>
          </a:p>
          <a:p>
            <a:pPr algn="l">
              <a:spcAft>
                <a:spcPts val="300"/>
              </a:spcAft>
            </a:pPr>
            <a:r>
              <a:rPr lang="en-US" sz="1300" b="1" dirty="0">
                <a:solidFill>
                  <a:srgbClr val="8B949E"/>
                </a:solidFill>
                <a:latin typeface="Calibri"/>
              </a:rPr>
              <a:t>GitHub</a:t>
            </a:r>
            <a:r>
              <a:rPr lang="en-US" sz="1300" b="0" dirty="0">
                <a:solidFill>
                  <a:srgbClr val="F7931A"/>
                </a:solidFill>
                <a:latin typeface="Calibri"/>
              </a:rPr>
              <a:t xml:space="preserve">     github.com/saikiranSai-art/crypto-pipeline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711</Words>
  <Application>Microsoft Office PowerPoint</Application>
  <PresentationFormat>Widescreen</PresentationFormat>
  <Paragraphs>89</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EU Business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 Market Intelligence ETL Pipeline</dc:title>
  <dc:subject>MADSC301 Business Intelligence Final Assignment</dc:subject>
  <dc:creator>OpenAI</dc:creator>
  <cp:lastModifiedBy>samarjit sarkar</cp:lastModifiedBy>
  <cp:revision>2</cp:revision>
  <dcterms:created xsi:type="dcterms:W3CDTF">2026-06-13T14:19:40Z</dcterms:created>
  <dcterms:modified xsi:type="dcterms:W3CDTF">2026-06-13T14:37:26Z</dcterms:modified>
</cp:coreProperties>
</file>